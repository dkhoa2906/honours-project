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2" r:id="rId1"/>
  </p:sldMasterIdLst>
  <p:notesMasterIdLst>
    <p:notesMasterId r:id="rId8"/>
  </p:notesMasterIdLst>
  <p:sldIdLst>
    <p:sldId id="256" r:id="rId2"/>
    <p:sldId id="270" r:id="rId3"/>
    <p:sldId id="260" r:id="rId4"/>
    <p:sldId id="295" r:id="rId5"/>
    <p:sldId id="294" r:id="rId6"/>
    <p:sldId id="282" r:id="rId7"/>
  </p:sldIdLst>
  <p:sldSz cx="18288000" cy="10287000"/>
  <p:notesSz cx="6858000" cy="9144000"/>
  <p:embeddedFontLst>
    <p:embeddedFont>
      <p:font typeface="Adobe Clean UX" panose="020B0503020404020204" pitchFamily="34" charset="0"/>
      <p:regular r:id="rId9"/>
    </p:embeddedFont>
    <p:embeddedFont>
      <p:font typeface="Gotham Bold" panose="02000603030000020004" pitchFamily="2" charset="77"/>
      <p:bold r:id="rId10"/>
      <p:italic r:id="rId11"/>
      <p:boldItalic r:id="rId12"/>
    </p:embeddedFont>
    <p:embeddedFont>
      <p:font typeface="League Spartan" pitchFamily="2" charset="77"/>
      <p:regular r:id="rId13"/>
      <p:bold r:id="rId14"/>
    </p:embeddedFont>
    <p:embeddedFont>
      <p:font typeface="League Spartan ExtraBold" pitchFamily="2" charset="77"/>
      <p:bold r:id="rId15"/>
    </p:embeddedFont>
    <p:embeddedFont>
      <p:font typeface="League Spartan Light" pitchFamily="2" charset="77"/>
      <p:regular r:id="rId16"/>
    </p:embeddedFont>
    <p:embeddedFont>
      <p:font typeface="League Spartan SemiBold" pitchFamily="2" charset="7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50"/>
    <a:srgbClr val="E9DC5E"/>
    <a:srgbClr val="FAF2EC"/>
    <a:srgbClr val="FBF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4590" autoAdjust="0"/>
  </p:normalViewPr>
  <p:slideViewPr>
    <p:cSldViewPr>
      <p:cViewPr>
        <p:scale>
          <a:sx n="61" d="100"/>
          <a:sy n="61" d="100"/>
        </p:scale>
        <p:origin x="952" y="2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67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CCEA0-1AFA-644C-B5E3-C2177A2E98DD}" type="datetimeFigureOut">
              <a:t>25/6/26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4E8EC-94C0-9245-8D1B-1E799525FF0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1126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63392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5332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80544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C6322-423C-0959-BBA7-481FC209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8471E-8E28-64A2-E624-FBFF67890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30412-3F87-9B57-AC67-C7A06998A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1182E-8B8E-7FB5-BBB7-306514205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59075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AD79-25B2-F96B-0FFF-C2FFAEE4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180E6-FDE3-CB9C-059A-2644ED7F3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5F59B-BDA9-B0F7-6947-99CACA170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1DC1F-3658-C5B0-CFCF-C09ECFB3F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0198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9CD1-4931-5AC7-6083-29F44AD3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CEAAF-7677-56DF-4A94-00D6B327D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39B22-67BF-DCFD-28AF-484494C8E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A6980-4013-07C5-5E89-1AE9F4282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9638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9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3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64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99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01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1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1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10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5400000">
            <a:off x="9967914" y="5295922"/>
            <a:ext cx="2183931" cy="50291"/>
            <a:chOff x="-86601" y="-602"/>
            <a:chExt cx="575192" cy="13245"/>
          </a:xfrm>
          <a:solidFill>
            <a:schemeClr val="bg1">
              <a:lumMod val="95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-86601" y="-602"/>
              <a:ext cx="575192" cy="13245"/>
            </a:xfrm>
            <a:custGeom>
              <a:avLst/>
              <a:gdLst/>
              <a:ahLst/>
              <a:cxnLst/>
              <a:rect l="l" t="t" r="r" b="b"/>
              <a:pathLst>
                <a:path w="441640" h="18205">
                  <a:moveTo>
                    <a:pt x="0" y="0"/>
                  </a:moveTo>
                  <a:lnTo>
                    <a:pt x="441640" y="0"/>
                  </a:lnTo>
                  <a:lnTo>
                    <a:pt x="441640" y="18205"/>
                  </a:lnTo>
                  <a:lnTo>
                    <a:pt x="0" y="1820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VN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 flipV="1">
              <a:off x="0" y="0"/>
              <a:ext cx="441640" cy="1204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BC2124E-038A-65A4-35C6-12BA380E6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464"/>
          <a:stretch/>
        </p:blipFill>
        <p:spPr>
          <a:xfrm>
            <a:off x="11782871" y="1340663"/>
            <a:ext cx="6505129" cy="878714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928945" y="3314700"/>
            <a:ext cx="9100649" cy="87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4300" b="1" spc="-39">
                <a:solidFill>
                  <a:schemeClr val="bg1">
                    <a:lumMod val="95000"/>
                  </a:schemeClr>
                </a:solidFill>
                <a:latin typeface="League Spartan Semi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Individual Honours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60883" y="5629421"/>
            <a:ext cx="3912883" cy="47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</a:pPr>
            <a:r>
              <a:rPr lang="en-US" sz="3600" b="1" spc="-39">
                <a:solidFill>
                  <a:schemeClr val="bg1">
                    <a:lumMod val="95000"/>
                  </a:schemeClr>
                </a:solidFill>
                <a:latin typeface="League Spartan" pitchFamily="2" charset="77"/>
                <a:sym typeface="Gotham"/>
              </a:rPr>
              <a:t>UIT - BCU</a:t>
            </a:r>
          </a:p>
        </p:txBody>
      </p:sp>
      <p:pic>
        <p:nvPicPr>
          <p:cNvPr id="10" name="Picture 9" descr="A white lion with a black background&#10;&#10;Description automatically generated">
            <a:extLst>
              <a:ext uri="{FF2B5EF4-FFF2-40B4-BE49-F238E27FC236}">
                <a16:creationId xmlns:a16="http://schemas.microsoft.com/office/drawing/2014/main" id="{733BAFBD-C61B-8CE5-B5BB-DB6D622BA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8212" y="4359422"/>
            <a:ext cx="1270000" cy="1270000"/>
          </a:xfrm>
          <a:prstGeom prst="rect">
            <a:avLst/>
          </a:prstGeom>
        </p:spPr>
      </p:pic>
      <p:pic>
        <p:nvPicPr>
          <p:cNvPr id="12" name="Picture 11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9DD77DB8-6D66-4716-22C3-EE6D33DD66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5251" y="4359422"/>
            <a:ext cx="1270000" cy="127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8B9E007-E86A-0AE6-C8CB-A3B5C2A1C501}"/>
              </a:ext>
            </a:extLst>
          </p:cNvPr>
          <p:cNvSpPr txBox="1"/>
          <p:nvPr/>
        </p:nvSpPr>
        <p:spPr>
          <a:xfrm>
            <a:off x="1928945" y="5369055"/>
            <a:ext cx="784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spc="-39">
                <a:solidFill>
                  <a:schemeClr val="bg1">
                    <a:lumMod val="95000"/>
                  </a:schemeClr>
                </a:solidFill>
                <a:latin typeface="League Spartan SemiBold" pitchFamily="2" charset="77"/>
              </a:rPr>
              <a:t>Dang Khoa Cao - Supervisor: PhD. Chi Thanh Vi</a:t>
            </a:r>
          </a:p>
          <a:p>
            <a:r>
              <a:rPr lang="en-US" sz="2400" b="1" spc="-39">
                <a:solidFill>
                  <a:schemeClr val="bg1">
                    <a:lumMod val="95000"/>
                  </a:schemeClr>
                </a:solidFill>
                <a:latin typeface="League Spartan SemiBold" pitchFamily="2" charset="77"/>
              </a:rPr>
              <a:t>UIT ID: 23560023 | BCU ID: 25195675</a:t>
            </a:r>
          </a:p>
          <a:p>
            <a:r>
              <a:rPr lang="en-US" sz="2400" b="1" spc="-39">
                <a:solidFill>
                  <a:schemeClr val="bg1">
                    <a:lumMod val="95000"/>
                  </a:schemeClr>
                </a:solidFill>
                <a:latin typeface="League Spartan SemiBold" pitchFamily="2" charset="77"/>
              </a:rPr>
              <a:t>23560023@gm.uit.edu.vn | dang.cao@mail.bcu.ac.uk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C49345E-BC6A-76FD-15B6-00B6A0F11D24}"/>
              </a:ext>
            </a:extLst>
          </p:cNvPr>
          <p:cNvSpPr txBox="1"/>
          <p:nvPr/>
        </p:nvSpPr>
        <p:spPr>
          <a:xfrm>
            <a:off x="1920951" y="4360669"/>
            <a:ext cx="9100649" cy="1011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7882" spc="-39">
                <a:solidFill>
                  <a:schemeClr val="bg1">
                    <a:lumMod val="95000"/>
                  </a:schemeClr>
                </a:solidFill>
                <a:latin typeface="League Spartan Extra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WEEKLY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C70D-A340-DAB8-9EA1-64002E50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E8D2323-B9BE-8F0E-DE33-D0D2C1F08768}"/>
              </a:ext>
            </a:extLst>
          </p:cNvPr>
          <p:cNvGrpSpPr/>
          <p:nvPr/>
        </p:nvGrpSpPr>
        <p:grpSpPr>
          <a:xfrm rot="-5400000">
            <a:off x="-5293990" y="4190515"/>
            <a:ext cx="10587979" cy="1905972"/>
            <a:chOff x="0" y="0"/>
            <a:chExt cx="2788604" cy="50198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C8954E-EDD7-E84C-B801-AF072740D0F7}"/>
                </a:ext>
              </a:extLst>
            </p:cNvPr>
            <p:cNvSpPr/>
            <p:nvPr/>
          </p:nvSpPr>
          <p:spPr>
            <a:xfrm>
              <a:off x="0" y="0"/>
              <a:ext cx="2788604" cy="501984"/>
            </a:xfrm>
            <a:custGeom>
              <a:avLst/>
              <a:gdLst/>
              <a:ahLst/>
              <a:cxnLst/>
              <a:rect l="l" t="t" r="r" b="b"/>
              <a:pathLst>
                <a:path w="2788604" h="501984">
                  <a:moveTo>
                    <a:pt x="0" y="0"/>
                  </a:moveTo>
                  <a:lnTo>
                    <a:pt x="2788604" y="0"/>
                  </a:lnTo>
                  <a:lnTo>
                    <a:pt x="2788604" y="501984"/>
                  </a:lnTo>
                  <a:lnTo>
                    <a:pt x="0" y="501984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26D73FA-03B6-9E54-D6EF-13192DF40A06}"/>
                </a:ext>
              </a:extLst>
            </p:cNvPr>
            <p:cNvSpPr txBox="1"/>
            <p:nvPr/>
          </p:nvSpPr>
          <p:spPr>
            <a:xfrm>
              <a:off x="0" y="-38100"/>
              <a:ext cx="2788604" cy="540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AC3BC617-4F6D-B15B-3477-695D78D02DBF}"/>
              </a:ext>
            </a:extLst>
          </p:cNvPr>
          <p:cNvSpPr txBox="1"/>
          <p:nvPr/>
        </p:nvSpPr>
        <p:spPr>
          <a:xfrm>
            <a:off x="2465182" y="949208"/>
            <a:ext cx="965073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595"/>
              </a:lnSpc>
            </a:pPr>
            <a:r>
              <a:rPr lang="en-US" sz="8000" b="1" spc="-505">
                <a:solidFill>
                  <a:srgbClr val="002150"/>
                </a:solidFill>
                <a:latin typeface="League Spartan ExtraBold" pitchFamily="2" charset="77"/>
                <a:ea typeface="League Spartan"/>
                <a:cs typeface="League Spartan"/>
                <a:sym typeface="League Spartan"/>
              </a:rPr>
              <a:t>TABLE OF 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461D8-7782-9731-02D5-A9E55B5FBA1A}"/>
              </a:ext>
            </a:extLst>
          </p:cNvPr>
          <p:cNvSpPr txBox="1"/>
          <p:nvPr/>
        </p:nvSpPr>
        <p:spPr>
          <a:xfrm>
            <a:off x="2467339" y="2132221"/>
            <a:ext cx="3384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002150"/>
                </a:solidFill>
                <a:latin typeface="League Spartan Light" pitchFamily="2" charset="77"/>
              </a:rPr>
              <a:t>Date: 25 Jun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92DD2-4179-4744-15F6-E70EF8D24F33}"/>
              </a:ext>
            </a:extLst>
          </p:cNvPr>
          <p:cNvSpPr txBox="1"/>
          <p:nvPr/>
        </p:nvSpPr>
        <p:spPr>
          <a:xfrm>
            <a:off x="2469664" y="3363327"/>
            <a:ext cx="11734801" cy="1818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 algn="just">
              <a:lnSpc>
                <a:spcPct val="140000"/>
              </a:lnSpc>
              <a:buFont typeface="+mj-lt"/>
              <a:buAutoNum type="romanUcPeriod"/>
            </a:pPr>
            <a:r>
              <a:rPr lang="en-US" sz="2800" spc="-64">
                <a:solidFill>
                  <a:srgbClr val="002250"/>
                </a:solidFill>
                <a:latin typeface="Gotham Bold"/>
                <a:cs typeface="Gotham Bold"/>
              </a:rPr>
              <a:t>Poster</a:t>
            </a:r>
          </a:p>
          <a:p>
            <a:pPr marL="539750" indent="-539750" algn="just">
              <a:lnSpc>
                <a:spcPct val="140000"/>
              </a:lnSpc>
              <a:buFont typeface="+mj-lt"/>
              <a:buAutoNum type="romanUcPeriod"/>
            </a:pPr>
            <a:r>
              <a:rPr lang="en-US" sz="2800" spc="-64">
                <a:solidFill>
                  <a:srgbClr val="002250"/>
                </a:solidFill>
                <a:latin typeface="Gotham Bold"/>
                <a:cs typeface="Gotham Bold"/>
              </a:rPr>
              <a:t>Viva structure plan</a:t>
            </a:r>
          </a:p>
          <a:p>
            <a:pPr marL="539750" indent="-539750" algn="just">
              <a:lnSpc>
                <a:spcPct val="140000"/>
              </a:lnSpc>
              <a:buFont typeface="+mj-lt"/>
              <a:buAutoNum type="romanUcPeriod"/>
            </a:pPr>
            <a:r>
              <a:rPr lang="en-VN" sz="2800" spc="-64">
                <a:solidFill>
                  <a:srgbClr val="002250"/>
                </a:solidFill>
                <a:latin typeface="Gotham Bold"/>
                <a:cs typeface="Gotham Bold"/>
              </a:rPr>
              <a:t>Q&amp;A preparation 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D718787-F81D-69D8-4CA2-041C62F93E17}"/>
              </a:ext>
            </a:extLst>
          </p:cNvPr>
          <p:cNvSpPr/>
          <p:nvPr/>
        </p:nvSpPr>
        <p:spPr>
          <a:xfrm>
            <a:off x="8229600" y="10767257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B21B82-07D6-B899-DF19-E9539DC9909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alphaModFix amt="50000"/>
          </a:blip>
          <a:srcRect r="39367"/>
          <a:stretch/>
        </p:blipFill>
        <p:spPr>
          <a:xfrm>
            <a:off x="12436431" y="1448789"/>
            <a:ext cx="5851570" cy="783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8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6"/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/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/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B22FA0A4-479A-C0FF-85E8-7AE92A1A1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92951D-F2BE-BFE6-096F-6C2125A09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114" y="-42561"/>
            <a:ext cx="14601772" cy="103295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E1C23-F70E-31C5-0C29-F80A0B3A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0BD23DCE-B184-F4DD-FFF2-41A311CF8AA2}"/>
              </a:ext>
            </a:extLst>
          </p:cNvPr>
          <p:cNvSpPr txBox="1"/>
          <p:nvPr/>
        </p:nvSpPr>
        <p:spPr>
          <a:xfrm>
            <a:off x="1104903" y="1589147"/>
            <a:ext cx="7124696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II. Viva Structure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81E25671-0C58-6979-2EB2-1611AE5040CD}"/>
              </a:ext>
            </a:extLst>
          </p:cNvPr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430F833-7305-9F5F-7129-5836043A8AA8}"/>
              </a:ext>
            </a:extLst>
          </p:cNvPr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FD5A464-0D6F-4014-E0E1-7AFEA56D1438}"/>
                </a:ext>
              </a:extLst>
            </p:cNvPr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F0B2BE23-B893-E13C-7609-C8E9F741D7B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62334D6D-EB92-333D-8D70-7228E9666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C1C323-4274-9988-E533-2CC9550452A2}"/>
              </a:ext>
            </a:extLst>
          </p:cNvPr>
          <p:cNvSpPr txBox="1"/>
          <p:nvPr/>
        </p:nvSpPr>
        <p:spPr>
          <a:xfrm>
            <a:off x="1104902" y="2628900"/>
            <a:ext cx="15506683" cy="5330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1. Background and problem.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2. Proposed gamified calibration concept.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3. System architecture and interface.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4. User study design.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5. Results.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6. Limitations and future work.</a:t>
            </a:r>
          </a:p>
          <a:p>
            <a:pPr marL="342900" indent="-342900">
              <a:lnSpc>
                <a:spcPct val="120000"/>
              </a:lnSpc>
              <a:buFont typeface="System Font Regular"/>
              <a:buChar char="⎯"/>
            </a:pP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  <a:p>
            <a:pPr marL="342900" indent="-342900">
              <a:lnSpc>
                <a:spcPct val="120000"/>
              </a:lnSpc>
              <a:buFont typeface="System Font Regular"/>
              <a:buChar char="⎯"/>
            </a:pP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Opening -&gt; Problem statement -&gt; Why gamification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How the system works -&gt; How the study was conducted -&gt; What results mean -&gt; Limitations.</a:t>
            </a:r>
          </a:p>
          <a:p>
            <a:pPr marL="342900" indent="-342900">
              <a:lnSpc>
                <a:spcPct val="120000"/>
              </a:lnSpc>
              <a:buFont typeface="System Font Regular"/>
              <a:buChar char="⎯"/>
            </a:pP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41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8372-9D98-C552-ADA7-EAE78A84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A0E7C8BC-4C3B-E684-8955-BAF7B92898AB}"/>
              </a:ext>
            </a:extLst>
          </p:cNvPr>
          <p:cNvSpPr txBox="1"/>
          <p:nvPr/>
        </p:nvSpPr>
        <p:spPr>
          <a:xfrm>
            <a:off x="1104903" y="1589147"/>
            <a:ext cx="8039091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III. Q&amp;A Preparation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4FAA869F-493A-2FCE-FADE-F9D083E51A56}"/>
              </a:ext>
            </a:extLst>
          </p:cNvPr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73860A4-DC7F-A24E-CE98-12080E1D83F1}"/>
              </a:ext>
            </a:extLst>
          </p:cNvPr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3A13CED-9F77-4D9D-1962-FEC484E479E7}"/>
                </a:ext>
              </a:extLst>
            </p:cNvPr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B73D2B91-F4A0-6881-4843-B9D5C158ABA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35B5997B-94ED-975E-91FF-C0B316098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ADE4D8-9DAF-BF50-2F12-0B8E6785F39A}"/>
              </a:ext>
            </a:extLst>
          </p:cNvPr>
          <p:cNvSpPr txBox="1"/>
          <p:nvPr/>
        </p:nvSpPr>
        <p:spPr>
          <a:xfrm>
            <a:off x="1401507" y="2472100"/>
            <a:ext cx="14592298" cy="5902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What kinds of questions do you think the examiners are most likely to ask about this project? Which parts of my presentation do you think I need to defend most carefully?</a:t>
            </a:r>
          </a:p>
          <a:p>
            <a:pPr marL="457200" indent="-457200">
              <a:buFontTx/>
              <a:buChar char="-"/>
            </a:pPr>
            <a:endParaRPr lang="en-US" sz="2600" spc="-64">
              <a:solidFill>
                <a:srgbClr val="002150"/>
              </a:solidFill>
              <a:latin typeface="Adobe Clean UX" panose="020B0503020404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Are there any weaknesses or unclear points that you think examiners will focus on?</a:t>
            </a:r>
          </a:p>
          <a:p>
            <a:pPr marL="457200" indent="-457200">
              <a:buFontTx/>
              <a:buChar char="-"/>
            </a:pPr>
            <a:endParaRPr lang="en-US" sz="2600" spc="-64">
              <a:solidFill>
                <a:srgbClr val="002150"/>
              </a:solidFill>
              <a:latin typeface="Adobe Clean UX" panose="020B0503020404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Do you think I should prepare more for technical questions, methodological questions, or critical questions about the study design?</a:t>
            </a:r>
          </a:p>
          <a:p>
            <a:pPr marL="457200" indent="-457200">
              <a:buFontTx/>
              <a:buChar char="-"/>
            </a:pPr>
            <a:endParaRPr lang="en-US" sz="2600" spc="-64">
              <a:solidFill>
                <a:srgbClr val="002150"/>
              </a:solidFill>
              <a:latin typeface="Adobe Clean UX" panose="020B0503020404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If they ask why I focused on workload and user experience rather than classification accuracy, what would be the best way to answer?</a:t>
            </a:r>
          </a:p>
          <a:p>
            <a:pPr marL="457200" indent="-457200">
              <a:buFontTx/>
              <a:buChar char="-"/>
            </a:pPr>
            <a:endParaRPr lang="en-US" sz="2600" spc="-64">
              <a:solidFill>
                <a:srgbClr val="002150"/>
              </a:solidFill>
              <a:latin typeface="Adobe Clean UX" panose="020B05030204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062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04016-496C-AE22-2465-EADD5378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7A2D41-C0FD-8B6D-0383-C9F2014432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20" b="4709"/>
          <a:stretch/>
        </p:blipFill>
        <p:spPr>
          <a:xfrm>
            <a:off x="-1" y="1373683"/>
            <a:ext cx="6970530" cy="8913317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1D23C974-625B-104F-F03C-016C40E6AE1D}"/>
              </a:ext>
            </a:extLst>
          </p:cNvPr>
          <p:cNvSpPr txBox="1"/>
          <p:nvPr/>
        </p:nvSpPr>
        <p:spPr>
          <a:xfrm>
            <a:off x="838200" y="8274134"/>
            <a:ext cx="5551714" cy="831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3000" b="1" spc="-39">
                <a:solidFill>
                  <a:srgbClr val="FAF2EC"/>
                </a:solidFill>
                <a:latin typeface="League Spartan Semi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Individual Honours Project</a:t>
            </a:r>
          </a:p>
        </p:txBody>
      </p:sp>
      <p:pic>
        <p:nvPicPr>
          <p:cNvPr id="10" name="Picture 9" descr="A white lion with a black background&#10;&#10;Description automatically generated">
            <a:extLst>
              <a:ext uri="{FF2B5EF4-FFF2-40B4-BE49-F238E27FC236}">
                <a16:creationId xmlns:a16="http://schemas.microsoft.com/office/drawing/2014/main" id="{B54BC935-F322-DF78-714D-F95F888D85C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AF2E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647" y="3009900"/>
            <a:ext cx="1270000" cy="1270000"/>
          </a:xfrm>
          <a:prstGeom prst="rect">
            <a:avLst/>
          </a:prstGeom>
        </p:spPr>
      </p:pic>
      <p:pic>
        <p:nvPicPr>
          <p:cNvPr id="12" name="Picture 11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B12364C6-3778-ECB0-4A1E-DBC15203834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AF2E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686" y="3009900"/>
            <a:ext cx="1270000" cy="127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3E0354-D0F3-48F4-F63D-40EB60B225EF}"/>
              </a:ext>
            </a:extLst>
          </p:cNvPr>
          <p:cNvSpPr txBox="1"/>
          <p:nvPr/>
        </p:nvSpPr>
        <p:spPr>
          <a:xfrm>
            <a:off x="744086" y="9029700"/>
            <a:ext cx="7848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39">
                <a:solidFill>
                  <a:srgbClr val="FAF2EC"/>
                </a:solidFill>
                <a:latin typeface="League Spartan SemiBold" pitchFamily="2" charset="77"/>
              </a:rPr>
              <a:t>Dang Khoa Cao - Supervisor: PhD. Chi Thanh Vi</a:t>
            </a:r>
          </a:p>
          <a:p>
            <a:r>
              <a:rPr lang="en-US" b="1" spc="-39">
                <a:solidFill>
                  <a:srgbClr val="FAF2EC"/>
                </a:solidFill>
                <a:latin typeface="League Spartan SemiBold" pitchFamily="2" charset="77"/>
              </a:rPr>
              <a:t>UIT ID: 23560023 | BCU ID: 25195675</a:t>
            </a:r>
          </a:p>
          <a:p>
            <a:r>
              <a:rPr lang="en-US" b="1" spc="-39">
                <a:solidFill>
                  <a:srgbClr val="FAF2EC"/>
                </a:solidFill>
                <a:latin typeface="League Spartan SemiBold" pitchFamily="2" charset="77"/>
              </a:rPr>
              <a:t>23560023@gm.uit.edu.vn | dang.cao@mail.bcu.ac.uk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C23A1498-366D-AFFC-972A-3A3C7ED41DF3}"/>
              </a:ext>
            </a:extLst>
          </p:cNvPr>
          <p:cNvSpPr txBox="1"/>
          <p:nvPr/>
        </p:nvSpPr>
        <p:spPr>
          <a:xfrm>
            <a:off x="3589375" y="4153964"/>
            <a:ext cx="11109249" cy="1973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sz="7000" spc="-39">
                <a:solidFill>
                  <a:srgbClr val="FAF2EC"/>
                </a:solidFill>
                <a:latin typeface="League Spartan Extra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THANK YOU</a:t>
            </a:r>
          </a:p>
          <a:p>
            <a:pPr algn="ctr">
              <a:lnSpc>
                <a:spcPts val="7488"/>
              </a:lnSpc>
            </a:pPr>
            <a:r>
              <a:rPr lang="en-US" sz="7000" spc="-39">
                <a:solidFill>
                  <a:srgbClr val="FAF2EC"/>
                </a:solidFill>
                <a:latin typeface="League Spartan Extra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FOR READING!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9548F2-93D6-3772-8F0F-39AB66FE8F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464"/>
          <a:stretch/>
        </p:blipFill>
        <p:spPr>
          <a:xfrm>
            <a:off x="11782871" y="1340663"/>
            <a:ext cx="6505129" cy="878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71517"/>
      </p:ext>
    </p:extLst>
  </p:cSld>
  <p:clrMapOvr>
    <a:masterClrMapping/>
  </p:clrMapOvr>
</p:sld>
</file>

<file path=ppt/theme/theme1.xml><?xml version="1.0" encoding="utf-8"?>
<a:theme xmlns:a="http://schemas.openxmlformats.org/drawingml/2006/main" name="bcu-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cu-blue" id="{3F7C257D-D202-7446-97B5-ACA504B91BF8}" vid="{FFB3AA41-2FF9-8241-B790-7DAB2CAEE0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65225</TotalTime>
  <Words>288</Words>
  <Application>Microsoft Macintosh PowerPoint</Application>
  <PresentationFormat>Custom</PresentationFormat>
  <Paragraphs>46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League Spartan ExtraBold</vt:lpstr>
      <vt:lpstr>Calibri</vt:lpstr>
      <vt:lpstr>League Spartan SemiBold</vt:lpstr>
      <vt:lpstr>League Spartan Light</vt:lpstr>
      <vt:lpstr>System Font Regular</vt:lpstr>
      <vt:lpstr>Aptos</vt:lpstr>
      <vt:lpstr>Arial</vt:lpstr>
      <vt:lpstr>Gotham Bold</vt:lpstr>
      <vt:lpstr>League Spartan</vt:lpstr>
      <vt:lpstr>Adobe Clean UX</vt:lpstr>
      <vt:lpstr>bcu-blue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Entreprise Agence Marketing  Professionnel Infographie Illustration Photos Moderne Formes Bleu Rose</dc:title>
  <cp:lastModifiedBy>Đăng Khoa Cao</cp:lastModifiedBy>
  <cp:revision>19</cp:revision>
  <dcterms:created xsi:type="dcterms:W3CDTF">2006-08-16T00:00:00Z</dcterms:created>
  <dcterms:modified xsi:type="dcterms:W3CDTF">2026-07-02T15:54:16Z</dcterms:modified>
  <dc:identifier>DAG2lAxNdMM</dc:identifier>
</cp:coreProperties>
</file>