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2" r:id="rId1"/>
  </p:sldMasterIdLst>
  <p:notesMasterIdLst>
    <p:notesMasterId r:id="rId13"/>
  </p:notesMasterIdLst>
  <p:sldIdLst>
    <p:sldId id="256" r:id="rId2"/>
    <p:sldId id="270" r:id="rId3"/>
    <p:sldId id="260" r:id="rId4"/>
    <p:sldId id="289" r:id="rId5"/>
    <p:sldId id="290" r:id="rId6"/>
    <p:sldId id="291" r:id="rId7"/>
    <p:sldId id="292" r:id="rId8"/>
    <p:sldId id="293" r:id="rId9"/>
    <p:sldId id="288" r:id="rId10"/>
    <p:sldId id="294" r:id="rId11"/>
    <p:sldId id="282" r:id="rId12"/>
  </p:sldIdLst>
  <p:sldSz cx="18288000" cy="10287000"/>
  <p:notesSz cx="6858000" cy="9144000"/>
  <p:embeddedFontLst>
    <p:embeddedFont>
      <p:font typeface="Adobe Clean UX" panose="020B0503020404020204" pitchFamily="34" charset="0"/>
      <p:regular r:id="rId14"/>
    </p:embeddedFont>
    <p:embeddedFont>
      <p:font typeface="Gotham Bold" panose="02000603030000020004" pitchFamily="2" charset="77"/>
      <p:bold r:id="rId15"/>
      <p:italic r:id="rId16"/>
      <p:boldItalic r:id="rId17"/>
    </p:embeddedFont>
    <p:embeddedFont>
      <p:font typeface="League Spartan" pitchFamily="2" charset="77"/>
      <p:regular r:id="rId18"/>
      <p:bold r:id="rId19"/>
    </p:embeddedFont>
    <p:embeddedFont>
      <p:font typeface="League Spartan ExtraBold" pitchFamily="2" charset="77"/>
      <p:bold r:id="rId20"/>
    </p:embeddedFont>
    <p:embeddedFont>
      <p:font typeface="League Spartan Light" pitchFamily="2" charset="77"/>
      <p:regular r:id="rId21"/>
    </p:embeddedFont>
    <p:embeddedFont>
      <p:font typeface="League Spartan SemiBold" pitchFamily="2" charset="77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50"/>
    <a:srgbClr val="E9DC5E"/>
    <a:srgbClr val="FAF2EC"/>
    <a:srgbClr val="FBF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2" autoAdjust="0"/>
    <p:restoredTop sz="94637" autoAdjust="0"/>
  </p:normalViewPr>
  <p:slideViewPr>
    <p:cSldViewPr>
      <p:cViewPr>
        <p:scale>
          <a:sx n="49" d="100"/>
          <a:sy n="49" d="100"/>
        </p:scale>
        <p:origin x="1736" y="6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67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CCEA0-1AFA-644C-B5E3-C2177A2E98DD}" type="datetimeFigureOut">
              <a:t>23/4/26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4E8EC-94C0-9245-8D1B-1E799525FF0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1126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63392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5332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80544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A5B0-B836-3215-CA13-38780A865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EB26B-FF20-01C2-1A8B-1931E907E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AF966-C639-F9E1-CD0F-81BF3507C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ACE1E-C503-BE0F-AA6C-5E450622B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32333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15F5E-3DF7-8A4F-F334-2E71A6A0F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D2849-F379-5EE6-59E2-4C1CB8BD2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1B640-FFB3-C9E2-C859-9C9DEF0ED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DC5A2-9F18-D21C-A60F-77E8A986A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90401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71964-54C9-3B5A-DB9A-82645A80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9AEEA-AA85-4B50-3279-EF9298B65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9C881-5EE1-B1FE-B027-C2D82804A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3FB1B-8A23-9891-165B-12F633426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01220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9F50-0D9B-C1A8-6600-89386622F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95DA7-85E2-CD36-59AC-84406268F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E0FEC-7FD6-DA6E-C3B4-6F24E04F4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EC4E7-E0DC-7DF2-7B5B-1D1762F0F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75234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CFBE-87B7-4C63-FCAC-9792CDC49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943D5-6737-7DE0-7729-8E8E65E42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7299A-1D2A-81F1-FB30-A4D775162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6F1D4-8E52-32D4-808E-428F130E8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46301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634D-BF01-FD78-C2EC-5BA9B785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B15C0-5F4C-14AB-F3C5-F04BD1A59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6E3BC-4235-DA66-3C02-E54571349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735A8-48F2-0D34-2882-117F7C496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5774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AD79-25B2-F96B-0FFF-C2FFAEE4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180E6-FDE3-CB9C-059A-2644ED7F3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5F59B-BDA9-B0F7-6947-99CACA170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1DC1F-3658-C5B0-CFCF-C09ECFB3F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rPr lang="en-VN"/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0198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09CD1-4931-5AC7-6083-29F44AD3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CEAAF-7677-56DF-4A94-00D6B327D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39B22-67BF-DCFD-28AF-484494C8E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A6980-4013-07C5-5E89-1AE9F4282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4E8EC-94C0-9245-8D1B-1E799525FF0E}" type="slidenum">
              <a:t>11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9638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9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3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64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99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01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1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1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10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-5400000">
            <a:off x="9967914" y="5295922"/>
            <a:ext cx="2183931" cy="50291"/>
            <a:chOff x="-86601" y="-602"/>
            <a:chExt cx="575192" cy="13245"/>
          </a:xfrm>
          <a:solidFill>
            <a:schemeClr val="bg1">
              <a:lumMod val="95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-86601" y="-602"/>
              <a:ext cx="575192" cy="13245"/>
            </a:xfrm>
            <a:custGeom>
              <a:avLst/>
              <a:gdLst/>
              <a:ahLst/>
              <a:cxnLst/>
              <a:rect l="l" t="t" r="r" b="b"/>
              <a:pathLst>
                <a:path w="441640" h="18205">
                  <a:moveTo>
                    <a:pt x="0" y="0"/>
                  </a:moveTo>
                  <a:lnTo>
                    <a:pt x="441640" y="0"/>
                  </a:lnTo>
                  <a:lnTo>
                    <a:pt x="441640" y="18205"/>
                  </a:lnTo>
                  <a:lnTo>
                    <a:pt x="0" y="1820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VN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 flipV="1">
              <a:off x="0" y="0"/>
              <a:ext cx="441640" cy="1204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BC2124E-038A-65A4-35C6-12BA380E6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464"/>
          <a:stretch/>
        </p:blipFill>
        <p:spPr>
          <a:xfrm>
            <a:off x="11782871" y="1340663"/>
            <a:ext cx="6505129" cy="878714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928945" y="3314700"/>
            <a:ext cx="9100649" cy="87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4300" b="1" spc="-39">
                <a:solidFill>
                  <a:schemeClr val="bg1">
                    <a:lumMod val="95000"/>
                  </a:schemeClr>
                </a:solidFill>
                <a:latin typeface="League Spartan SemiBold" pitchFamily="2" charset="77"/>
                <a:ea typeface="League Spartan"/>
                <a:cs typeface="Segoe UI" panose="020F0502020204030204" pitchFamily="34" charset="0"/>
                <a:sym typeface="League Spartan"/>
              </a:rPr>
              <a:t>Individual Honours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60883" y="5629421"/>
            <a:ext cx="3912883" cy="478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1"/>
              </a:lnSpc>
            </a:pPr>
            <a:r>
              <a:rPr lang="en-US" sz="3600" b="1" spc="-39">
                <a:solidFill>
                  <a:schemeClr val="bg1">
                    <a:lumMod val="95000"/>
                  </a:schemeClr>
                </a:solidFill>
                <a:latin typeface="League Spartan" pitchFamily="2" charset="77"/>
                <a:sym typeface="Gotham"/>
              </a:rPr>
              <a:t>UIT - BCU</a:t>
            </a:r>
          </a:p>
        </p:txBody>
      </p:sp>
      <p:pic>
        <p:nvPicPr>
          <p:cNvPr id="10" name="Picture 9" descr="A white lion with a black background&#10;&#10;Description automatically generated">
            <a:extLst>
              <a:ext uri="{FF2B5EF4-FFF2-40B4-BE49-F238E27FC236}">
                <a16:creationId xmlns:a16="http://schemas.microsoft.com/office/drawing/2014/main" id="{733BAFBD-C61B-8CE5-B5BB-DB6D622BA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8212" y="4359422"/>
            <a:ext cx="1270000" cy="1270000"/>
          </a:xfrm>
          <a:prstGeom prst="rect">
            <a:avLst/>
          </a:prstGeom>
        </p:spPr>
      </p:pic>
      <p:pic>
        <p:nvPicPr>
          <p:cNvPr id="12" name="Picture 11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9DD77DB8-6D66-4716-22C3-EE6D33DD66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5251" y="4359422"/>
            <a:ext cx="1270000" cy="127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8B9E007-E86A-0AE6-C8CB-A3B5C2A1C501}"/>
              </a:ext>
            </a:extLst>
          </p:cNvPr>
          <p:cNvSpPr txBox="1"/>
          <p:nvPr/>
        </p:nvSpPr>
        <p:spPr>
          <a:xfrm>
            <a:off x="1928945" y="5369055"/>
            <a:ext cx="784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spc="-39">
                <a:solidFill>
                  <a:schemeClr val="bg1">
                    <a:lumMod val="95000"/>
                  </a:schemeClr>
                </a:solidFill>
                <a:latin typeface="League Spartan SemiBold" pitchFamily="2" charset="77"/>
              </a:rPr>
              <a:t>Dang Khoa Cao - Supervisor: PhD. Chi Thanh Vi</a:t>
            </a:r>
          </a:p>
          <a:p>
            <a:r>
              <a:rPr lang="en-US" sz="2400" b="1" spc="-39">
                <a:solidFill>
                  <a:schemeClr val="bg1">
                    <a:lumMod val="95000"/>
                  </a:schemeClr>
                </a:solidFill>
                <a:latin typeface="League Spartan SemiBold" pitchFamily="2" charset="77"/>
              </a:rPr>
              <a:t>UIT ID: 23560023 | BCU ID: 25195675</a:t>
            </a:r>
          </a:p>
          <a:p>
            <a:r>
              <a:rPr lang="en-US" sz="2400" b="1" spc="-39">
                <a:solidFill>
                  <a:schemeClr val="bg1">
                    <a:lumMod val="95000"/>
                  </a:schemeClr>
                </a:solidFill>
                <a:latin typeface="League Spartan SemiBold" pitchFamily="2" charset="77"/>
              </a:rPr>
              <a:t>23560023@gm.uit.edu.vn | dang.cao@mail.bcu.ac.uk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C49345E-BC6A-76FD-15B6-00B6A0F11D24}"/>
              </a:ext>
            </a:extLst>
          </p:cNvPr>
          <p:cNvSpPr txBox="1"/>
          <p:nvPr/>
        </p:nvSpPr>
        <p:spPr>
          <a:xfrm>
            <a:off x="1920951" y="4360669"/>
            <a:ext cx="9100649" cy="1011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7882" spc="-39">
                <a:solidFill>
                  <a:schemeClr val="bg1">
                    <a:lumMod val="95000"/>
                  </a:schemeClr>
                </a:solidFill>
                <a:latin typeface="League Spartan ExtraBold" pitchFamily="2" charset="77"/>
                <a:ea typeface="League Spartan"/>
                <a:cs typeface="Segoe UI" panose="020F0502020204030204" pitchFamily="34" charset="0"/>
                <a:sym typeface="League Spartan"/>
              </a:rPr>
              <a:t>WEEKLY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C70D-A340-DAB8-9EA1-64002E50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E8D2323-B9BE-8F0E-DE33-D0D2C1F08768}"/>
              </a:ext>
            </a:extLst>
          </p:cNvPr>
          <p:cNvGrpSpPr/>
          <p:nvPr/>
        </p:nvGrpSpPr>
        <p:grpSpPr>
          <a:xfrm rot="-5400000">
            <a:off x="-5293990" y="4190515"/>
            <a:ext cx="10587979" cy="1905972"/>
            <a:chOff x="0" y="0"/>
            <a:chExt cx="2788604" cy="50198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C8954E-EDD7-E84C-B801-AF072740D0F7}"/>
                </a:ext>
              </a:extLst>
            </p:cNvPr>
            <p:cNvSpPr/>
            <p:nvPr/>
          </p:nvSpPr>
          <p:spPr>
            <a:xfrm>
              <a:off x="0" y="0"/>
              <a:ext cx="2788604" cy="501984"/>
            </a:xfrm>
            <a:custGeom>
              <a:avLst/>
              <a:gdLst/>
              <a:ahLst/>
              <a:cxnLst/>
              <a:rect l="l" t="t" r="r" b="b"/>
              <a:pathLst>
                <a:path w="2788604" h="501984">
                  <a:moveTo>
                    <a:pt x="0" y="0"/>
                  </a:moveTo>
                  <a:lnTo>
                    <a:pt x="2788604" y="0"/>
                  </a:lnTo>
                  <a:lnTo>
                    <a:pt x="2788604" y="501984"/>
                  </a:lnTo>
                  <a:lnTo>
                    <a:pt x="0" y="501984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26D73FA-03B6-9E54-D6EF-13192DF40A06}"/>
                </a:ext>
              </a:extLst>
            </p:cNvPr>
            <p:cNvSpPr txBox="1"/>
            <p:nvPr/>
          </p:nvSpPr>
          <p:spPr>
            <a:xfrm>
              <a:off x="0" y="-38100"/>
              <a:ext cx="2788604" cy="540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AC3BC617-4F6D-B15B-3477-695D78D02DBF}"/>
              </a:ext>
            </a:extLst>
          </p:cNvPr>
          <p:cNvSpPr txBox="1"/>
          <p:nvPr/>
        </p:nvSpPr>
        <p:spPr>
          <a:xfrm>
            <a:off x="2465182" y="949208"/>
            <a:ext cx="965073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595"/>
              </a:lnSpc>
            </a:pPr>
            <a:r>
              <a:rPr lang="en-US" sz="8000" b="1" spc="-505">
                <a:solidFill>
                  <a:srgbClr val="002150"/>
                </a:solidFill>
                <a:latin typeface="League Spartan ExtraBold" pitchFamily="2" charset="77"/>
                <a:ea typeface="League Spartan"/>
                <a:cs typeface="League Spartan"/>
                <a:sym typeface="League Spartan"/>
              </a:rPr>
              <a:t>TABLE OF 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461D8-7782-9731-02D5-A9E55B5FBA1A}"/>
              </a:ext>
            </a:extLst>
          </p:cNvPr>
          <p:cNvSpPr txBox="1"/>
          <p:nvPr/>
        </p:nvSpPr>
        <p:spPr>
          <a:xfrm>
            <a:off x="2467339" y="2132221"/>
            <a:ext cx="3384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>
                <a:solidFill>
                  <a:srgbClr val="002150"/>
                </a:solidFill>
                <a:latin typeface="League Spartan Light" pitchFamily="2" charset="77"/>
              </a:rPr>
              <a:t>Date: 23 Apr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92DD2-4179-4744-15F6-E70EF8D24F33}"/>
              </a:ext>
            </a:extLst>
          </p:cNvPr>
          <p:cNvSpPr txBox="1"/>
          <p:nvPr/>
        </p:nvSpPr>
        <p:spPr>
          <a:xfrm>
            <a:off x="2469664" y="3363327"/>
            <a:ext cx="11734801" cy="24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 algn="just">
              <a:lnSpc>
                <a:spcPct val="140000"/>
              </a:lnSpc>
              <a:buFont typeface="+mj-lt"/>
              <a:buAutoNum type="romanUcPeriod"/>
            </a:pPr>
            <a:r>
              <a:rPr lang="en-US" sz="2800" spc="-64">
                <a:solidFill>
                  <a:srgbClr val="002250"/>
                </a:solidFill>
                <a:latin typeface="Gotham Bold"/>
                <a:cs typeface="Gotham Bold"/>
              </a:rPr>
              <a:t>Summary</a:t>
            </a:r>
          </a:p>
          <a:p>
            <a:pPr marL="539750" indent="-539750" algn="just">
              <a:lnSpc>
                <a:spcPct val="140000"/>
              </a:lnSpc>
              <a:buFont typeface="+mj-lt"/>
              <a:buAutoNum type="romanUcPeriod"/>
            </a:pPr>
            <a:r>
              <a:rPr lang="en-US" sz="2800" spc="-64">
                <a:solidFill>
                  <a:srgbClr val="002250"/>
                </a:solidFill>
                <a:latin typeface="Gotham Bold"/>
                <a:cs typeface="Gotham Bold"/>
              </a:rPr>
              <a:t>Finished tasks</a:t>
            </a:r>
            <a:endParaRPr lang="en-VN" sz="2800" spc="-64">
              <a:solidFill>
                <a:srgbClr val="002250"/>
              </a:solidFill>
              <a:latin typeface="Gotham Bold"/>
              <a:cs typeface="Gotham Bold"/>
            </a:endParaRPr>
          </a:p>
          <a:p>
            <a:pPr marL="539750" indent="-539750" algn="just">
              <a:lnSpc>
                <a:spcPct val="140000"/>
              </a:lnSpc>
              <a:buFont typeface="+mj-lt"/>
              <a:buAutoNum type="romanUcPeriod"/>
            </a:pPr>
            <a:r>
              <a:rPr lang="en-VN" sz="2800" spc="-64">
                <a:solidFill>
                  <a:srgbClr val="002250"/>
                </a:solidFill>
                <a:latin typeface="Gotham Bold"/>
                <a:cs typeface="Gotham Bold"/>
              </a:rPr>
              <a:t>Current difficulties</a:t>
            </a:r>
          </a:p>
          <a:p>
            <a:pPr marL="539750" indent="-539750" algn="just">
              <a:lnSpc>
                <a:spcPct val="140000"/>
              </a:lnSpc>
              <a:buFont typeface="+mj-lt"/>
              <a:buAutoNum type="romanUcPeriod"/>
            </a:pPr>
            <a:r>
              <a:rPr lang="en-VN" sz="2800" spc="-64">
                <a:solidFill>
                  <a:srgbClr val="002250"/>
                </a:solidFill>
                <a:latin typeface="Gotham Bold"/>
                <a:cs typeface="Gotham Bold"/>
              </a:rPr>
              <a:t>Next plan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D718787-F81D-69D8-4CA2-041C62F93E17}"/>
              </a:ext>
            </a:extLst>
          </p:cNvPr>
          <p:cNvSpPr/>
          <p:nvPr/>
        </p:nvSpPr>
        <p:spPr>
          <a:xfrm>
            <a:off x="8229600" y="10767257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B21B82-07D6-B899-DF19-E9539DC9909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alphaModFix amt="50000"/>
          </a:blip>
          <a:srcRect r="39367"/>
          <a:stretch/>
        </p:blipFill>
        <p:spPr>
          <a:xfrm>
            <a:off x="12436431" y="1448789"/>
            <a:ext cx="5851570" cy="783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8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1104903" y="1589147"/>
            <a:ext cx="5197969" cy="66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6000" b="1" spc="-77">
                <a:solidFill>
                  <a:srgbClr val="0021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I. Summary</a:t>
            </a:r>
          </a:p>
        </p:txBody>
      </p:sp>
      <p:sp>
        <p:nvSpPr>
          <p:cNvPr id="26" name="AutoShape 26"/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/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/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/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B22FA0A4-479A-C0FF-85E8-7AE92A1A1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3808E9-3CBC-8CE6-98B2-E3936D30CA2C}"/>
              </a:ext>
            </a:extLst>
          </p:cNvPr>
          <p:cNvSpPr txBox="1"/>
          <p:nvPr/>
        </p:nvSpPr>
        <p:spPr>
          <a:xfrm>
            <a:off x="1104902" y="2628900"/>
            <a:ext cx="15506683" cy="1969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System Font Regular"/>
              <a:buChar char="⎯"/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This is the report of my project “</a:t>
            </a:r>
            <a:r>
              <a:rPr lang="en-US" sz="2600" b="1" spc="-64">
                <a:solidFill>
                  <a:srgbClr val="002250"/>
                </a:solidFill>
                <a:latin typeface="Adobe Clean UX" panose="020B0503020404020204" pitchFamily="34" charset="0"/>
              </a:rPr>
              <a:t>BCG: A Game-Based Approach to Motor Imagery Adaptation and BCI Calibration.”</a:t>
            </a:r>
          </a:p>
          <a:p>
            <a:pPr marL="342900" indent="-342900">
              <a:lnSpc>
                <a:spcPct val="120000"/>
              </a:lnSpc>
              <a:buFont typeface="System Font Regular"/>
              <a:buChar char="⎯"/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The target was to make EEG-based motor imagery calibration more effective and easier to apply outside the laboratory.</a:t>
            </a:r>
          </a:p>
          <a:p>
            <a:pPr>
              <a:lnSpc>
                <a:spcPct val="120000"/>
              </a:lnSpc>
            </a:pPr>
            <a:endParaRPr lang="en-US" sz="2600" spc="-64">
              <a:solidFill>
                <a:srgbClr val="002250"/>
              </a:solidFill>
              <a:latin typeface="Adobe Clean UX" panose="020B05030204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51ABB-3520-9816-3766-25E59FC5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FB1E16EB-FDB4-4C00-F8F3-777C300B3801}"/>
              </a:ext>
            </a:extLst>
          </p:cNvPr>
          <p:cNvSpPr txBox="1"/>
          <p:nvPr/>
        </p:nvSpPr>
        <p:spPr>
          <a:xfrm>
            <a:off x="1104903" y="1589147"/>
            <a:ext cx="5197969" cy="66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6000" b="1" spc="-77">
                <a:solidFill>
                  <a:srgbClr val="0021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I. Finished tasks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F8DB5CB9-6CE8-6FEF-CF34-295F6A6FC614}"/>
              </a:ext>
            </a:extLst>
          </p:cNvPr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501318A-B35C-EF8F-9475-66976567D64F}"/>
              </a:ext>
            </a:extLst>
          </p:cNvPr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2451BEB-1372-62F0-3FA9-5FDBEC15722B}"/>
                </a:ext>
              </a:extLst>
            </p:cNvPr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CA28851-49C4-4FD5-C1BC-7FE85204E1B1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C1880C31-71C0-EBCE-6BAE-66F327970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BFB57B-5820-CED8-FC6D-D45125A5C4E5}"/>
              </a:ext>
            </a:extLst>
          </p:cNvPr>
          <p:cNvSpPr txBox="1"/>
          <p:nvPr/>
        </p:nvSpPr>
        <p:spPr>
          <a:xfrm>
            <a:off x="1730872" y="2400190"/>
            <a:ext cx="9144000" cy="66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200" b="1" spc="-77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1. Model training </a:t>
            </a:r>
            <a:r>
              <a:rPr lang="en-US" sz="3200" b="1" spc="-77" baseline="30000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[STP7]</a:t>
            </a:r>
            <a:r>
              <a:rPr lang="en-US" sz="3200" b="1" spc="-77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 – 100%</a:t>
            </a:r>
            <a:r>
              <a:rPr lang="en-US" sz="3200" b="1" spc="-77" baseline="30000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FFE54-8368-6C5D-1764-651C516AF25E}"/>
              </a:ext>
            </a:extLst>
          </p:cNvPr>
          <p:cNvSpPr txBox="1"/>
          <p:nvPr/>
        </p:nvSpPr>
        <p:spPr>
          <a:xfrm>
            <a:off x="1730871" y="3361411"/>
            <a:ext cx="15718925" cy="377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spc="-64">
                <a:solidFill>
                  <a:srgbClr val="002250"/>
                </a:solidFill>
                <a:latin typeface="Adobe Clean UX" panose="020B0503020404020204" pitchFamily="34" charset="0"/>
              </a:rPr>
              <a:t>STRATEGY 1</a:t>
            </a:r>
          </a:p>
          <a:p>
            <a:pPr>
              <a:lnSpc>
                <a:spcPct val="120000"/>
              </a:lnSpc>
            </a:pPr>
            <a:r>
              <a:rPr lang="en-US" sz="2600" b="1" spc="-64">
                <a:solidFill>
                  <a:srgbClr val="002250"/>
                </a:solidFill>
                <a:latin typeface="Adobe Clean UX" panose="020B0503020404020204" pitchFamily="34" charset="0"/>
              </a:rPr>
              <a:t>Classical ML on MIMED dataset</a:t>
            </a:r>
          </a:p>
          <a:p>
            <a:pPr>
              <a:lnSpc>
                <a:spcPct val="120000"/>
              </a:lnSpc>
            </a:pPr>
            <a:endParaRPr lang="en-US" sz="2600" spc="-64">
              <a:solidFill>
                <a:srgbClr val="002250"/>
              </a:solidFill>
              <a:latin typeface="Adobe Clean UX" panose="020B05030204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- Initial approach using CSP (Common Spatial Pattern) with classical classifiers. MIMED was chosen as the primary dataset because it was recorded on the EMOTIV Epoc X. </a:t>
            </a: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- However, the dataset suffers from very few trials per subject (~8), which causes unstable CSP covariance estimation and poor generalization.</a:t>
            </a:r>
          </a:p>
          <a:p>
            <a:pPr>
              <a:lnSpc>
                <a:spcPct val="120000"/>
              </a:lnSpc>
            </a:pPr>
            <a:endParaRPr lang="en-US" sz="2600" spc="-64">
              <a:solidFill>
                <a:srgbClr val="002250"/>
              </a:solidFill>
              <a:latin typeface="Adobe Clean UX" panose="020B0503020404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FAA362B-720D-B5FD-6BEF-242276BE9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049445"/>
              </p:ext>
            </p:extLst>
          </p:nvPr>
        </p:nvGraphicFramePr>
        <p:xfrm>
          <a:off x="1905000" y="7144499"/>
          <a:ext cx="7936824" cy="22098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0942">
                  <a:extLst>
                    <a:ext uri="{9D8B030D-6E8A-4147-A177-3AD203B41FA5}">
                      <a16:colId xmlns:a16="http://schemas.microsoft.com/office/drawing/2014/main" val="13330621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44237381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715292797"/>
                    </a:ext>
                  </a:extLst>
                </a:gridCol>
                <a:gridCol w="2083482">
                  <a:extLst>
                    <a:ext uri="{9D8B030D-6E8A-4147-A177-3AD203B41FA5}">
                      <a16:colId xmlns:a16="http://schemas.microsoft.com/office/drawing/2014/main" val="2411584792"/>
                    </a:ext>
                  </a:extLst>
                </a:gridCol>
              </a:tblGrid>
              <a:tr h="492139">
                <a:tc>
                  <a:txBody>
                    <a:bodyPr/>
                    <a:lstStyle/>
                    <a:p>
                      <a:pPr algn="l"/>
                      <a:r>
                        <a:rPr lang="en-VN" sz="2000" b="1">
                          <a:solidFill>
                            <a:srgbClr val="002150"/>
                          </a:solidFill>
                        </a:rPr>
                        <a:t>Model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 sz="2000" b="1">
                          <a:solidFill>
                            <a:srgbClr val="002150"/>
                          </a:solidFill>
                        </a:rPr>
                        <a:t>Classes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 sz="2000" b="1">
                          <a:solidFill>
                            <a:srgbClr val="002150"/>
                          </a:solidFill>
                        </a:rPr>
                        <a:t>Protocol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 sz="2000" b="1">
                          <a:solidFill>
                            <a:srgbClr val="002150"/>
                          </a:solidFill>
                        </a:rPr>
                        <a:t>Accuracy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081796"/>
                  </a:ext>
                </a:extLst>
              </a:tr>
              <a:tr h="572554">
                <a:tc>
                  <a:txBody>
                    <a:bodyPr/>
                    <a:lstStyle/>
                    <a:p>
                      <a:pPr algn="l"/>
                      <a:r>
                        <a:rPr lang="en-VN">
                          <a:solidFill>
                            <a:srgbClr val="002150"/>
                          </a:solidFill>
                        </a:rPr>
                        <a:t>CSP + LDA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>
                          <a:solidFill>
                            <a:srgbClr val="002150"/>
                          </a:solidFill>
                        </a:rPr>
                        <a:t>4-class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>
                          <a:solidFill>
                            <a:srgbClr val="0021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Cross-subject, 5-fold</a:t>
                      </a:r>
                      <a:endParaRPr lang="en-VN">
                        <a:solidFill>
                          <a:srgbClr val="00215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 sz="1800" b="0" i="0" kern="1200">
                          <a:solidFill>
                            <a:srgbClr val="0021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52.5%</a:t>
                      </a:r>
                      <a:endParaRPr lang="en-VN">
                        <a:solidFill>
                          <a:srgbClr val="00215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4534"/>
                  </a:ext>
                </a:extLst>
              </a:tr>
              <a:tr h="572554">
                <a:tc>
                  <a:txBody>
                    <a:bodyPr/>
                    <a:lstStyle/>
                    <a:p>
                      <a:pPr algn="l"/>
                      <a:r>
                        <a:rPr lang="en-VN">
                          <a:solidFill>
                            <a:srgbClr val="002150"/>
                          </a:solidFill>
                        </a:rPr>
                        <a:t>CSP + SVM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>
                          <a:solidFill>
                            <a:srgbClr val="002150"/>
                          </a:solidFill>
                        </a:rPr>
                        <a:t>4-class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>
                          <a:solidFill>
                            <a:srgbClr val="0021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Cross-subject, 5-fold</a:t>
                      </a:r>
                      <a:endParaRPr lang="en-VN">
                        <a:solidFill>
                          <a:srgbClr val="00215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 sz="1800" b="0" i="0" kern="1200">
                          <a:solidFill>
                            <a:srgbClr val="0021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46.7%</a:t>
                      </a:r>
                      <a:endParaRPr lang="en-VN">
                        <a:solidFill>
                          <a:srgbClr val="00215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774600"/>
                  </a:ext>
                </a:extLst>
              </a:tr>
              <a:tr h="572554">
                <a:tc>
                  <a:txBody>
                    <a:bodyPr/>
                    <a:lstStyle/>
                    <a:p>
                      <a:pPr algn="l"/>
                      <a:r>
                        <a:rPr lang="en-VN">
                          <a:solidFill>
                            <a:srgbClr val="002150"/>
                          </a:solidFill>
                        </a:rPr>
                        <a:t>CSP + LDA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>
                          <a:solidFill>
                            <a:srgbClr val="002150"/>
                          </a:solidFill>
                        </a:rPr>
                        <a:t>4-class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>
                          <a:solidFill>
                            <a:srgbClr val="0021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Cross-subject, 5-fold</a:t>
                      </a:r>
                      <a:endParaRPr lang="en-VN">
                        <a:solidFill>
                          <a:srgbClr val="00215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 sz="1800" b="0" i="0" kern="1200">
                          <a:solidFill>
                            <a:srgbClr val="0021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42.1%</a:t>
                      </a:r>
                      <a:endParaRPr lang="en-VN">
                        <a:solidFill>
                          <a:srgbClr val="00215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40803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4202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D16AB-14A3-78D6-CFAD-7AA6ADD78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C8370A0C-FA92-6E11-60BA-CF77488B77EA}"/>
              </a:ext>
            </a:extLst>
          </p:cNvPr>
          <p:cNvSpPr txBox="1"/>
          <p:nvPr/>
        </p:nvSpPr>
        <p:spPr>
          <a:xfrm>
            <a:off x="1104903" y="1589147"/>
            <a:ext cx="5197969" cy="66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6000" b="1" spc="-77">
                <a:solidFill>
                  <a:srgbClr val="0021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I. Finished tasks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58FFAFDD-67C1-07D7-BD81-BC7B4929B859}"/>
              </a:ext>
            </a:extLst>
          </p:cNvPr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EE1E5F9-5443-0EA4-FEEB-EA4F4375EFB5}"/>
              </a:ext>
            </a:extLst>
          </p:cNvPr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5765F54-2252-3BE8-E933-E5A615335CE8}"/>
                </a:ext>
              </a:extLst>
            </p:cNvPr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FA997A0D-3804-39A7-4A06-231A2F3374CA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F13824A5-AFC4-116F-AE4D-3B1AC8EC0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C65B45-F6C6-8025-3C79-C74532837D1E}"/>
              </a:ext>
            </a:extLst>
          </p:cNvPr>
          <p:cNvSpPr txBox="1"/>
          <p:nvPr/>
        </p:nvSpPr>
        <p:spPr>
          <a:xfrm>
            <a:off x="1730872" y="2400190"/>
            <a:ext cx="9144000" cy="66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200" b="1" spc="-77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1. Model training </a:t>
            </a:r>
            <a:r>
              <a:rPr lang="en-US" sz="3200" b="1" spc="-77" baseline="30000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[STP7]  </a:t>
            </a:r>
            <a:r>
              <a:rPr lang="en-US" sz="3200" b="1" spc="-77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– 100%</a:t>
            </a:r>
            <a:r>
              <a:rPr lang="en-US" sz="3200" b="1" spc="-77" baseline="30000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CE3D47-75D1-A8E0-A10F-C533637AE8A5}"/>
              </a:ext>
            </a:extLst>
          </p:cNvPr>
          <p:cNvSpPr txBox="1"/>
          <p:nvPr/>
        </p:nvSpPr>
        <p:spPr>
          <a:xfrm>
            <a:off x="1730871" y="3361411"/>
            <a:ext cx="14575927" cy="377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spc="-64">
                <a:solidFill>
                  <a:srgbClr val="002250"/>
                </a:solidFill>
                <a:latin typeface="Adobe Clean UX" panose="020B0503020404020204" pitchFamily="34" charset="0"/>
              </a:rPr>
              <a:t>STRATEGY 2</a:t>
            </a:r>
          </a:p>
          <a:p>
            <a:pPr>
              <a:lnSpc>
                <a:spcPct val="120000"/>
              </a:lnSpc>
            </a:pPr>
            <a:r>
              <a:rPr lang="en-US" sz="2600" b="1" spc="-64">
                <a:solidFill>
                  <a:srgbClr val="002250"/>
                </a:solidFill>
                <a:latin typeface="Adobe Clean UX" panose="020B0503020404020204" pitchFamily="34" charset="0"/>
              </a:rPr>
              <a:t>Deep Learning (EEGNet architecture) trained on BCI IV 2a dataset -&gt; fine-tuned on MIMED</a:t>
            </a:r>
          </a:p>
          <a:p>
            <a:pPr>
              <a:lnSpc>
                <a:spcPct val="120000"/>
              </a:lnSpc>
            </a:pPr>
            <a:endParaRPr lang="en-US" sz="2600" spc="-64">
              <a:solidFill>
                <a:srgbClr val="002250"/>
              </a:solidFill>
              <a:latin typeface="Adobe Clean UX" panose="020B05030204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- To overcome the data scarcity problem, EEGNet was first pretrained on BCI IV 2a, a larger research-grade dataset with 5,184 trials across 9 subjects. The model learned general EEG patterns (mu/beta rhythms) from this data.</a:t>
            </a:r>
          </a:p>
          <a:p>
            <a:pPr>
              <a:lnSpc>
                <a:spcPct val="120000"/>
              </a:lnSpc>
            </a:pPr>
            <a:endParaRPr lang="en-US" sz="2600" spc="-64">
              <a:solidFill>
                <a:srgbClr val="002250"/>
              </a:solidFill>
              <a:latin typeface="Adobe Clean UX" panose="020B05030204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- The pretrained model was then adapted to Epoc X hardware by fine-tuning on MIMED. </a:t>
            </a:r>
            <a:b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</a:br>
            <a:endParaRPr lang="en-US" sz="2600" spc="-64">
              <a:solidFill>
                <a:srgbClr val="002250"/>
              </a:solidFill>
              <a:latin typeface="Adobe Clean UX" panose="020B0503020404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07874F7-481B-8372-5708-C7C156AF9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689165"/>
              </p:ext>
            </p:extLst>
          </p:nvPr>
        </p:nvGraphicFramePr>
        <p:xfrm>
          <a:off x="1981203" y="7140331"/>
          <a:ext cx="12420599" cy="23816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3597">
                  <a:extLst>
                    <a:ext uri="{9D8B030D-6E8A-4147-A177-3AD203B41FA5}">
                      <a16:colId xmlns:a16="http://schemas.microsoft.com/office/drawing/2014/main" val="1333062104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44237381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715292797"/>
                    </a:ext>
                  </a:extLst>
                </a:gridCol>
                <a:gridCol w="1752602">
                  <a:extLst>
                    <a:ext uri="{9D8B030D-6E8A-4147-A177-3AD203B41FA5}">
                      <a16:colId xmlns:a16="http://schemas.microsoft.com/office/drawing/2014/main" val="2411584792"/>
                    </a:ext>
                  </a:extLst>
                </a:gridCol>
              </a:tblGrid>
              <a:tr h="492139">
                <a:tc>
                  <a:txBody>
                    <a:bodyPr/>
                    <a:lstStyle/>
                    <a:p>
                      <a:pPr algn="l"/>
                      <a:r>
                        <a:rPr lang="en-VN" sz="2000" b="1">
                          <a:solidFill>
                            <a:srgbClr val="002150"/>
                          </a:solidFill>
                        </a:rPr>
                        <a:t>Model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 sz="2000" b="1">
                          <a:solidFill>
                            <a:srgbClr val="002150"/>
                          </a:solidFill>
                        </a:rPr>
                        <a:t>Classes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 sz="2000" b="1">
                          <a:solidFill>
                            <a:srgbClr val="002150"/>
                          </a:solidFill>
                        </a:rPr>
                        <a:t>Protocol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 sz="2000" b="1">
                          <a:solidFill>
                            <a:srgbClr val="002150"/>
                          </a:solidFill>
                        </a:rPr>
                        <a:t>Accuracy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081796"/>
                  </a:ext>
                </a:extLst>
              </a:tr>
              <a:tr h="572554">
                <a:tc>
                  <a:txBody>
                    <a:bodyPr/>
                    <a:lstStyle/>
                    <a:p>
                      <a:pPr algn="l"/>
                      <a:r>
                        <a:rPr lang="en-VN">
                          <a:solidFill>
                            <a:srgbClr val="002150"/>
                          </a:solidFill>
                        </a:rPr>
                        <a:t>EEGNet + BCI IV 2a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>
                          <a:solidFill>
                            <a:srgbClr val="002150"/>
                          </a:solidFill>
                        </a:rPr>
                        <a:t>4-class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>
                          <a:solidFill>
                            <a:srgbClr val="0021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5-fold CV</a:t>
                      </a:r>
                      <a:endParaRPr lang="en-VN">
                        <a:solidFill>
                          <a:srgbClr val="00215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 sz="1800" b="0" i="0" kern="1200">
                          <a:solidFill>
                            <a:srgbClr val="0021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61.44%</a:t>
                      </a:r>
                      <a:endParaRPr lang="en-VN">
                        <a:solidFill>
                          <a:srgbClr val="00215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14534"/>
                  </a:ext>
                </a:extLst>
              </a:tr>
              <a:tr h="7444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>
                          <a:solidFill>
                            <a:srgbClr val="002150"/>
                          </a:solidFill>
                        </a:rPr>
                        <a:t>EEGNet + MIMED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>
                          <a:solidFill>
                            <a:srgbClr val="002150"/>
                          </a:solidFill>
                        </a:rPr>
                        <a:t>2-class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>
                          <a:solidFill>
                            <a:srgbClr val="002150"/>
                          </a:solidFill>
                        </a:rPr>
                        <a:t>LOTO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>
                          <a:solidFill>
                            <a:srgbClr val="002150"/>
                          </a:solidFill>
                        </a:rPr>
                        <a:t>71.67%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774600"/>
                  </a:ext>
                </a:extLst>
              </a:tr>
              <a:tr h="5725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>
                          <a:solidFill>
                            <a:srgbClr val="002150"/>
                          </a:solidFill>
                        </a:rPr>
                        <a:t>EEGNet + BCI IV 2a then finetuned on MIMED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>
                          <a:solidFill>
                            <a:srgbClr val="002150"/>
                          </a:solidFill>
                        </a:rPr>
                        <a:t>2-class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>
                          <a:solidFill>
                            <a:srgbClr val="002150"/>
                          </a:solidFill>
                        </a:rPr>
                        <a:t>LOTO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VN">
                          <a:solidFill>
                            <a:srgbClr val="002150"/>
                          </a:solidFill>
                        </a:rPr>
                        <a:t>72.08%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40803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48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F2E2F-44A3-CB29-46A7-0AF49A74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93B19A55-FAE7-2DC7-12EE-BBD573D8FE3F}"/>
              </a:ext>
            </a:extLst>
          </p:cNvPr>
          <p:cNvSpPr txBox="1"/>
          <p:nvPr/>
        </p:nvSpPr>
        <p:spPr>
          <a:xfrm>
            <a:off x="1104903" y="1589147"/>
            <a:ext cx="5197969" cy="66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6000" b="1" spc="-77">
                <a:solidFill>
                  <a:srgbClr val="0021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I. Finished tasks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570DC90E-7232-4EC8-E3AF-B1912D39565C}"/>
              </a:ext>
            </a:extLst>
          </p:cNvPr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814EACA-3159-E13E-A693-C9DAB110EDC5}"/>
              </a:ext>
            </a:extLst>
          </p:cNvPr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8F85B52-1460-D766-BA9B-757252EEE1BE}"/>
                </a:ext>
              </a:extLst>
            </p:cNvPr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33C9693-4F25-D316-5C21-4DC4185977A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6425F83A-BBF2-2F89-3134-DAE7D552D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EF5788-6DCA-A4C6-5DAC-51DBC4D99CD8}"/>
              </a:ext>
            </a:extLst>
          </p:cNvPr>
          <p:cNvSpPr txBox="1"/>
          <p:nvPr/>
        </p:nvSpPr>
        <p:spPr>
          <a:xfrm>
            <a:off x="1730872" y="2400190"/>
            <a:ext cx="9144000" cy="66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200" b="1" spc="-77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2. Traditional Calibrating Method Design </a:t>
            </a:r>
            <a:r>
              <a:rPr lang="en-US" sz="3200" b="1" spc="-77" baseline="30000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[STP11] </a:t>
            </a:r>
            <a:r>
              <a:rPr lang="en-US" sz="3200" b="1" spc="-77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 - 100%</a:t>
            </a:r>
            <a:endParaRPr lang="en-US" sz="3200" b="1" spc="-77" baseline="30000">
              <a:solidFill>
                <a:srgbClr val="002150"/>
              </a:solidFill>
              <a:latin typeface="League Spartan SemiBold" pitchFamily="2" charset="77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C6C1B7-4A9F-6BA8-38A5-E4C41770F446}"/>
              </a:ext>
            </a:extLst>
          </p:cNvPr>
          <p:cNvSpPr txBox="1"/>
          <p:nvPr/>
        </p:nvSpPr>
        <p:spPr>
          <a:xfrm>
            <a:off x="1730871" y="3361411"/>
            <a:ext cx="14575927" cy="292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Tx/>
              <a:buChar char="-"/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I have implemented 2 desktop applications to support the experimental pipeline</a:t>
            </a:r>
          </a:p>
          <a:p>
            <a:pPr marL="457200" indent="-457200">
              <a:lnSpc>
                <a:spcPct val="120000"/>
              </a:lnSpc>
              <a:buFontTx/>
              <a:buChar char="-"/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The</a:t>
            </a:r>
            <a:r>
              <a:rPr lang="en-US" sz="2600" b="1" spc="-64">
                <a:solidFill>
                  <a:srgbClr val="002250"/>
                </a:solidFill>
                <a:latin typeface="Adobe Clean UX" panose="020B0503020404020204" pitchFamily="34" charset="0"/>
              </a:rPr>
              <a:t> Data Collection Tool </a:t>
            </a: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guides participants through a cued EEG recording protocol across configurable blocks and trials, automatically saving labeled data for model training. </a:t>
            </a:r>
          </a:p>
          <a:p>
            <a:pPr marL="457200" indent="-457200">
              <a:lnSpc>
                <a:spcPct val="120000"/>
              </a:lnSpc>
              <a:buFontTx/>
              <a:buChar char="-"/>
            </a:pP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The </a:t>
            </a:r>
            <a:r>
              <a:rPr lang="en-US" sz="2600" b="1" spc="-64">
                <a:solidFill>
                  <a:srgbClr val="002250"/>
                </a:solidFill>
                <a:latin typeface="Adobe Clean UX" panose="020B0503020404020204" pitchFamily="34" charset="0"/>
              </a:rPr>
              <a:t>Live Monitor Tool </a:t>
            </a:r>
            <a: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  <a:t>performs real-time motor imagery classification by streaming EEG data into a sliding 4-second window and continuously displaying predictions.</a:t>
            </a:r>
            <a:br>
              <a:rPr lang="en-US" sz="2600" spc="-64">
                <a:solidFill>
                  <a:srgbClr val="002250"/>
                </a:solidFill>
                <a:latin typeface="Adobe Clean UX" panose="020B0503020404020204" pitchFamily="34" charset="0"/>
              </a:rPr>
            </a:br>
            <a:endParaRPr lang="en-US" sz="2600" spc="-64">
              <a:solidFill>
                <a:srgbClr val="002250"/>
              </a:solidFill>
              <a:latin typeface="Adobe Clean UX" panose="020B05030204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619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F11A2-ADA8-CE17-05B4-544FC378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0D3DAB13-4A6B-D5C7-C9FF-E06E2739074D}"/>
              </a:ext>
            </a:extLst>
          </p:cNvPr>
          <p:cNvSpPr txBox="1"/>
          <p:nvPr/>
        </p:nvSpPr>
        <p:spPr>
          <a:xfrm>
            <a:off x="1104903" y="1589147"/>
            <a:ext cx="5197969" cy="66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6000" b="1" spc="-77">
                <a:solidFill>
                  <a:srgbClr val="0021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I. Finished tasks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944AC377-A73C-B274-F00A-BA8E35883FC5}"/>
              </a:ext>
            </a:extLst>
          </p:cNvPr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A27D053-45CD-0004-A7C5-9AC3141B01C1}"/>
              </a:ext>
            </a:extLst>
          </p:cNvPr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E9F8D55-06C8-A7C7-0469-28E5E4BFF3F9}"/>
                </a:ext>
              </a:extLst>
            </p:cNvPr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7B81B1A8-2386-8605-FAF2-2B494A4BAB3D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4AE333AA-EF51-94F7-E843-C5BCA25DF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FF015-369B-C746-2042-732D2AEEABFE}"/>
              </a:ext>
            </a:extLst>
          </p:cNvPr>
          <p:cNvSpPr txBox="1"/>
          <p:nvPr/>
        </p:nvSpPr>
        <p:spPr>
          <a:xfrm>
            <a:off x="1730872" y="2400190"/>
            <a:ext cx="9144000" cy="66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200" b="1" spc="-77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2. Traditional Calibrating Method Design </a:t>
            </a:r>
            <a:r>
              <a:rPr lang="en-US" sz="3200" b="1" spc="-77" baseline="30000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[STP11] </a:t>
            </a:r>
            <a:r>
              <a:rPr lang="en-US" sz="3200" b="1" spc="-77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 - 100%</a:t>
            </a:r>
            <a:endParaRPr lang="en-US" sz="3200" b="1" spc="-77" baseline="30000">
              <a:solidFill>
                <a:srgbClr val="002150"/>
              </a:solidFill>
              <a:latin typeface="League Spartan SemiBold" pitchFamily="2" charset="77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E8D0B61-44DC-1823-E996-E37FF2323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44" y="3067424"/>
            <a:ext cx="8595082" cy="6623895"/>
          </a:xfrm>
          <a:prstGeom prst="rect">
            <a:avLst/>
          </a:prstGeom>
        </p:spPr>
      </p:pic>
      <p:pic>
        <p:nvPicPr>
          <p:cNvPr id="6" name="Picture 5" descr="A screenshot of a video recorder&#10;&#10;Description automatically generated">
            <a:extLst>
              <a:ext uri="{FF2B5EF4-FFF2-40B4-BE49-F238E27FC236}">
                <a16:creationId xmlns:a16="http://schemas.microsoft.com/office/drawing/2014/main" id="{37112C30-426E-274E-ACA7-697EA3D9D3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023" y="2933705"/>
            <a:ext cx="8996923" cy="702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29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F7943-81F6-D11C-AB3E-E2ABC6975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EE939795-488B-6404-6FEF-6B5741FEBEF4}"/>
              </a:ext>
            </a:extLst>
          </p:cNvPr>
          <p:cNvSpPr txBox="1"/>
          <p:nvPr/>
        </p:nvSpPr>
        <p:spPr>
          <a:xfrm>
            <a:off x="1104903" y="1589147"/>
            <a:ext cx="5197969" cy="66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6000" b="1" spc="-77">
                <a:solidFill>
                  <a:srgbClr val="0021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I. Finished tasks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23813453-6FBA-3F46-0CBF-7B0710883BC8}"/>
              </a:ext>
            </a:extLst>
          </p:cNvPr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ABE7AF0-0910-AA3D-0EE0-FBC8F6187900}"/>
              </a:ext>
            </a:extLst>
          </p:cNvPr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002E124-3710-F728-7395-8489CC55BE07}"/>
                </a:ext>
              </a:extLst>
            </p:cNvPr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3ECDF343-015F-BFAD-1450-FB0C3C033A15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4295BEB4-61DC-3C75-1970-336BBBBE0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256ECF-4650-43B1-35CD-C2875E72B693}"/>
              </a:ext>
            </a:extLst>
          </p:cNvPr>
          <p:cNvSpPr txBox="1"/>
          <p:nvPr/>
        </p:nvSpPr>
        <p:spPr>
          <a:xfrm>
            <a:off x="1730872" y="2400190"/>
            <a:ext cx="9144000" cy="66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200" b="1" spc="-77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2. Traditional Calibrating Method Design </a:t>
            </a:r>
            <a:r>
              <a:rPr lang="en-US" sz="3200" b="1" spc="-77" baseline="30000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[STP11] </a:t>
            </a:r>
            <a:r>
              <a:rPr lang="en-US" sz="3200" b="1" spc="-77">
                <a:solidFill>
                  <a:srgbClr val="002150"/>
                </a:solidFill>
                <a:latin typeface="League Spartan SemiBold" pitchFamily="2" charset="77"/>
                <a:ea typeface="League Spartan"/>
                <a:cs typeface="League Spartan"/>
                <a:sym typeface="League Spartan"/>
              </a:rPr>
              <a:t> - 100%</a:t>
            </a:r>
            <a:endParaRPr lang="en-US" sz="3200" b="1" spc="-77" baseline="30000">
              <a:solidFill>
                <a:srgbClr val="002150"/>
              </a:solidFill>
              <a:latin typeface="League Spartan SemiBold" pitchFamily="2" charset="77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7D74DEC-3D75-A9D1-2456-CE7418113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92" y="2920194"/>
            <a:ext cx="8877986" cy="6941634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54279328-1EB6-4942-342F-285DDC5C2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298" y="2920194"/>
            <a:ext cx="8877984" cy="694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60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B9EE2-25C6-F908-2343-307ED988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174ED266-901E-78B9-59FF-AD32D3866B44}"/>
              </a:ext>
            </a:extLst>
          </p:cNvPr>
          <p:cNvSpPr txBox="1"/>
          <p:nvPr/>
        </p:nvSpPr>
        <p:spPr>
          <a:xfrm>
            <a:off x="1104903" y="1589147"/>
            <a:ext cx="8039091" cy="66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6000" b="1" spc="-77">
                <a:solidFill>
                  <a:srgbClr val="0021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III. Current Difficulties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71DE502C-6C64-C0C1-7159-137C3B4CED93}"/>
              </a:ext>
            </a:extLst>
          </p:cNvPr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D722248-C76F-CB76-5E8A-DA93A353C1C4}"/>
              </a:ext>
            </a:extLst>
          </p:cNvPr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20873DD-339C-6E83-DA81-FF95CCF8B908}"/>
                </a:ext>
              </a:extLst>
            </p:cNvPr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022E974C-FE26-D809-6678-617BD2F70990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EFFA0047-4D45-7684-FB26-41BC9CC23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EAAC58-A4A1-C339-991C-F455E7552EC4}"/>
              </a:ext>
            </a:extLst>
          </p:cNvPr>
          <p:cNvSpPr txBox="1"/>
          <p:nvPr/>
        </p:nvSpPr>
        <p:spPr>
          <a:xfrm>
            <a:off x="1401507" y="2472100"/>
            <a:ext cx="14592298" cy="1969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- The full-text deadline for BME conference</a:t>
            </a: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- Game idea </a:t>
            </a:r>
          </a:p>
          <a:p>
            <a:pPr>
              <a:lnSpc>
                <a:spcPct val="120000"/>
              </a:lnSpc>
            </a:pPr>
            <a:endParaRPr lang="en-US" sz="2600" spc="-64">
              <a:solidFill>
                <a:srgbClr val="002150"/>
              </a:solidFill>
              <a:latin typeface="Adobe Clean UX" panose="020B05030204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1220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8372-9D98-C552-ADA7-EAE78A84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>
            <a:extLst>
              <a:ext uri="{FF2B5EF4-FFF2-40B4-BE49-F238E27FC236}">
                <a16:creationId xmlns:a16="http://schemas.microsoft.com/office/drawing/2014/main" id="{A0E7C8BC-4C3B-E684-8955-BAF7B92898AB}"/>
              </a:ext>
            </a:extLst>
          </p:cNvPr>
          <p:cNvSpPr txBox="1"/>
          <p:nvPr/>
        </p:nvSpPr>
        <p:spPr>
          <a:xfrm>
            <a:off x="1104903" y="1589147"/>
            <a:ext cx="8039091" cy="66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6000" b="1" spc="-77">
                <a:solidFill>
                  <a:srgbClr val="0021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III. Next Plan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4FAA869F-493A-2FCE-FADE-F9D083E51A56}"/>
              </a:ext>
            </a:extLst>
          </p:cNvPr>
          <p:cNvSpPr/>
          <p:nvPr/>
        </p:nvSpPr>
        <p:spPr>
          <a:xfrm flipV="1">
            <a:off x="11947020" y="1194282"/>
            <a:ext cx="0" cy="2116120"/>
          </a:xfrm>
          <a:prstGeom prst="line">
            <a:avLst/>
          </a:prstGeom>
          <a:ln w="9525" cap="flat">
            <a:solidFill>
              <a:srgbClr val="F7E7D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73860A4-DC7F-A24E-CE98-12080E1D83F1}"/>
              </a:ext>
            </a:extLst>
          </p:cNvPr>
          <p:cNvGrpSpPr>
            <a:grpSpLocks/>
          </p:cNvGrpSpPr>
          <p:nvPr/>
        </p:nvGrpSpPr>
        <p:grpSpPr>
          <a:xfrm>
            <a:off x="0" y="-719504"/>
            <a:ext cx="6768300" cy="1330380"/>
            <a:chOff x="0" y="-38100"/>
            <a:chExt cx="1782597" cy="38381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3A13CED-9F77-4D9D-1962-FEC484E479E7}"/>
                </a:ext>
              </a:extLst>
            </p:cNvPr>
            <p:cNvSpPr>
              <a:spLocks/>
            </p:cNvSpPr>
            <p:nvPr/>
          </p:nvSpPr>
          <p:spPr>
            <a:xfrm>
              <a:off x="0" y="-38100"/>
              <a:ext cx="1782597" cy="383810"/>
            </a:xfrm>
            <a:custGeom>
              <a:avLst/>
              <a:gdLst/>
              <a:ahLst/>
              <a:cxnLst/>
              <a:rect l="l" t="t" r="r" b="b"/>
              <a:pathLst>
                <a:path w="1782597" h="345710">
                  <a:moveTo>
                    <a:pt x="0" y="0"/>
                  </a:moveTo>
                  <a:lnTo>
                    <a:pt x="1782597" y="0"/>
                  </a:lnTo>
                  <a:lnTo>
                    <a:pt x="1782597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B73D2B91-F4A0-6881-4843-B9D5C158ABA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38100"/>
              <a:ext cx="1782597" cy="383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35B5997B-94ED-975E-91FF-C0B316098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0" y="-748114"/>
            <a:ext cx="11519700" cy="1358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ADE4D8-9DAF-BF50-2F12-0B8E6785F39A}"/>
              </a:ext>
            </a:extLst>
          </p:cNvPr>
          <p:cNvSpPr txBox="1"/>
          <p:nvPr/>
        </p:nvSpPr>
        <p:spPr>
          <a:xfrm>
            <a:off x="1401507" y="2472100"/>
            <a:ext cx="14592298" cy="1008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- Implement the game </a:t>
            </a:r>
          </a:p>
          <a:p>
            <a:pPr>
              <a:lnSpc>
                <a:spcPct val="120000"/>
              </a:lnSpc>
            </a:pPr>
            <a:r>
              <a:rPr lang="en-US" sz="2600" spc="-64">
                <a:solidFill>
                  <a:srgbClr val="002150"/>
                </a:solidFill>
                <a:latin typeface="Adobe Clean UX" panose="020B05030204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062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04016-496C-AE22-2465-EADD5378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87A2D41-C0FD-8B6D-0383-C9F2014432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520" b="4709"/>
          <a:stretch/>
        </p:blipFill>
        <p:spPr>
          <a:xfrm>
            <a:off x="-1" y="1373683"/>
            <a:ext cx="6970530" cy="8913317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1D23C974-625B-104F-F03C-016C40E6AE1D}"/>
              </a:ext>
            </a:extLst>
          </p:cNvPr>
          <p:cNvSpPr txBox="1"/>
          <p:nvPr/>
        </p:nvSpPr>
        <p:spPr>
          <a:xfrm>
            <a:off x="838200" y="8274134"/>
            <a:ext cx="5551714" cy="831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3000" b="1" spc="-39">
                <a:solidFill>
                  <a:srgbClr val="FAF2EC"/>
                </a:solidFill>
                <a:latin typeface="League Spartan SemiBold" pitchFamily="2" charset="77"/>
                <a:ea typeface="League Spartan"/>
                <a:cs typeface="Segoe UI" panose="020F0502020204030204" pitchFamily="34" charset="0"/>
                <a:sym typeface="League Spartan"/>
              </a:rPr>
              <a:t>Individual Honours Project</a:t>
            </a:r>
          </a:p>
        </p:txBody>
      </p:sp>
      <p:pic>
        <p:nvPicPr>
          <p:cNvPr id="10" name="Picture 9" descr="A white lion with a black background&#10;&#10;Description automatically generated">
            <a:extLst>
              <a:ext uri="{FF2B5EF4-FFF2-40B4-BE49-F238E27FC236}">
                <a16:creationId xmlns:a16="http://schemas.microsoft.com/office/drawing/2014/main" id="{B54BC935-F322-DF78-714D-F95F888D85C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AF2E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647" y="3009900"/>
            <a:ext cx="1270000" cy="1270000"/>
          </a:xfrm>
          <a:prstGeom prst="rect">
            <a:avLst/>
          </a:prstGeom>
        </p:spPr>
      </p:pic>
      <p:pic>
        <p:nvPicPr>
          <p:cNvPr id="12" name="Picture 11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B12364C6-3778-ECB0-4A1E-DBC15203834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AF2E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686" y="3009900"/>
            <a:ext cx="1270000" cy="127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3E0354-D0F3-48F4-F63D-40EB60B225EF}"/>
              </a:ext>
            </a:extLst>
          </p:cNvPr>
          <p:cNvSpPr txBox="1"/>
          <p:nvPr/>
        </p:nvSpPr>
        <p:spPr>
          <a:xfrm>
            <a:off x="744086" y="9029700"/>
            <a:ext cx="7848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39">
                <a:solidFill>
                  <a:srgbClr val="FAF2EC"/>
                </a:solidFill>
                <a:latin typeface="League Spartan SemiBold" pitchFamily="2" charset="77"/>
              </a:rPr>
              <a:t>Dang Khoa Cao - Supervisor: PhD. Chi Thanh Vi</a:t>
            </a:r>
          </a:p>
          <a:p>
            <a:r>
              <a:rPr lang="en-US" b="1" spc="-39">
                <a:solidFill>
                  <a:srgbClr val="FAF2EC"/>
                </a:solidFill>
                <a:latin typeface="League Spartan SemiBold" pitchFamily="2" charset="77"/>
              </a:rPr>
              <a:t>UIT ID: 23560023 | BCU ID: 25195675</a:t>
            </a:r>
          </a:p>
          <a:p>
            <a:r>
              <a:rPr lang="en-US" b="1" spc="-39">
                <a:solidFill>
                  <a:srgbClr val="FAF2EC"/>
                </a:solidFill>
                <a:latin typeface="League Spartan SemiBold" pitchFamily="2" charset="77"/>
              </a:rPr>
              <a:t>23560023@gm.uit.edu.vn | dang.cao@mail.bcu.ac.uk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C23A1498-366D-AFFC-972A-3A3C7ED41DF3}"/>
              </a:ext>
            </a:extLst>
          </p:cNvPr>
          <p:cNvSpPr txBox="1"/>
          <p:nvPr/>
        </p:nvSpPr>
        <p:spPr>
          <a:xfrm>
            <a:off x="3589375" y="4153964"/>
            <a:ext cx="11109249" cy="1973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sz="7000" spc="-39">
                <a:solidFill>
                  <a:srgbClr val="FAF2EC"/>
                </a:solidFill>
                <a:latin typeface="League Spartan ExtraBold" pitchFamily="2" charset="77"/>
                <a:ea typeface="League Spartan"/>
                <a:cs typeface="Segoe UI" panose="020F0502020204030204" pitchFamily="34" charset="0"/>
                <a:sym typeface="League Spartan"/>
              </a:rPr>
              <a:t>THANK YOU</a:t>
            </a:r>
          </a:p>
          <a:p>
            <a:pPr algn="ctr">
              <a:lnSpc>
                <a:spcPts val="7488"/>
              </a:lnSpc>
            </a:pPr>
            <a:r>
              <a:rPr lang="en-US" sz="7000" spc="-39">
                <a:solidFill>
                  <a:srgbClr val="FAF2EC"/>
                </a:solidFill>
                <a:latin typeface="League Spartan ExtraBold" pitchFamily="2" charset="77"/>
                <a:ea typeface="League Spartan"/>
                <a:cs typeface="Segoe UI" panose="020F0502020204030204" pitchFamily="34" charset="0"/>
                <a:sym typeface="League Spartan"/>
              </a:rPr>
              <a:t>FOR READING!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9548F2-93D6-3772-8F0F-39AB66FE8F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464"/>
          <a:stretch/>
        </p:blipFill>
        <p:spPr>
          <a:xfrm>
            <a:off x="11782871" y="1340663"/>
            <a:ext cx="6505129" cy="878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71517"/>
      </p:ext>
    </p:extLst>
  </p:cSld>
  <p:clrMapOvr>
    <a:masterClrMapping/>
  </p:clrMapOvr>
</p:sld>
</file>

<file path=ppt/theme/theme1.xml><?xml version="1.0" encoding="utf-8"?>
<a:theme xmlns:a="http://schemas.openxmlformats.org/drawingml/2006/main" name="bcu-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cu-blue" id="{3F7C257D-D202-7446-97B5-ACA504B91BF8}" vid="{FFB3AA41-2FF9-8241-B790-7DAB2CAEE0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55002</TotalTime>
  <Words>535</Words>
  <Application>Microsoft Macintosh PowerPoint</Application>
  <PresentationFormat>Custom</PresentationFormat>
  <Paragraphs>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League Spartan ExtraBold</vt:lpstr>
      <vt:lpstr>League Spartan Light</vt:lpstr>
      <vt:lpstr>System Font Regular</vt:lpstr>
      <vt:lpstr>Aptos</vt:lpstr>
      <vt:lpstr>Arial</vt:lpstr>
      <vt:lpstr>Adobe Clean UX</vt:lpstr>
      <vt:lpstr>League Spartan</vt:lpstr>
      <vt:lpstr>League Spartan SemiBold</vt:lpstr>
      <vt:lpstr>Calibri</vt:lpstr>
      <vt:lpstr>Gotham Bold</vt:lpstr>
      <vt:lpstr>bcu-blue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Entreprise Agence Marketing  Professionnel Infographie Illustration Photos Moderne Formes Bleu Rose</dc:title>
  <cp:lastModifiedBy>Đăng Khoa Cao</cp:lastModifiedBy>
  <cp:revision>18</cp:revision>
  <dcterms:created xsi:type="dcterms:W3CDTF">2006-08-16T00:00:00Z</dcterms:created>
  <dcterms:modified xsi:type="dcterms:W3CDTF">2026-04-23T07:01:33Z</dcterms:modified>
  <dc:identifier>DAG2lAxNdMM</dc:identifier>
</cp:coreProperties>
</file>