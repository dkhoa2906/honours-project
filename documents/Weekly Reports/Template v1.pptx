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732" r:id="rId1"/>
  </p:sldMasterIdLst>
  <p:notesMasterIdLst>
    <p:notesMasterId r:id="rId12"/>
  </p:notesMasterIdLst>
  <p:sldIdLst>
    <p:sldId id="256" r:id="rId2"/>
    <p:sldId id="270" r:id="rId3"/>
    <p:sldId id="260" r:id="rId4"/>
    <p:sldId id="263" r:id="rId5"/>
    <p:sldId id="280" r:id="rId6"/>
    <p:sldId id="281" r:id="rId7"/>
    <p:sldId id="264" r:id="rId8"/>
    <p:sldId id="278" r:id="rId9"/>
    <p:sldId id="279" r:id="rId10"/>
    <p:sldId id="282" r:id="rId11"/>
  </p:sldIdLst>
  <p:sldSz cx="18288000" cy="10287000"/>
  <p:notesSz cx="6858000" cy="9144000"/>
  <p:embeddedFontLst>
    <p:embeddedFont>
      <p:font typeface="Gotham" pitchFamily="2" charset="0"/>
      <p:regular r:id="rId13"/>
    </p:embeddedFont>
    <p:embeddedFont>
      <p:font typeface="League Spartan" pitchFamily="2" charset="77"/>
      <p:regular r:id="rId14"/>
      <p:bold r:id="rId15"/>
    </p:embeddedFont>
    <p:embeddedFont>
      <p:font typeface="League Spartan ExtraBold" pitchFamily="2" charset="77"/>
      <p:bold r:id="rId16"/>
    </p:embeddedFont>
    <p:embeddedFont>
      <p:font typeface="League Spartan Light" pitchFamily="2" charset="77"/>
      <p:regular r:id="rId17"/>
    </p:embeddedFont>
    <p:embeddedFont>
      <p:font typeface="League Spartan SemiBold" pitchFamily="2" charset="77"/>
      <p:regular r:id="rId18"/>
      <p:bold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AF2EC"/>
    <a:srgbClr val="002150"/>
    <a:srgbClr val="FBF2E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975" autoAdjust="0"/>
    <p:restoredTop sz="94613" autoAdjust="0"/>
  </p:normalViewPr>
  <p:slideViewPr>
    <p:cSldViewPr>
      <p:cViewPr>
        <p:scale>
          <a:sx n="63" d="100"/>
          <a:sy n="63" d="100"/>
        </p:scale>
        <p:origin x="1144" y="61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80" d="100"/>
        <a:sy n="80" d="100"/>
      </p:scale>
      <p:origin x="0" y="0"/>
    </p:cViewPr>
  </p:sorterViewPr>
  <p:notesViewPr>
    <p:cSldViewPr>
      <p:cViewPr varScale="1">
        <p:scale>
          <a:sx n="81" d="100"/>
          <a:sy n="81" d="100"/>
        </p:scale>
        <p:origin x="3672" y="19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7CCEA0-1AFA-644C-B5E3-C2177A2E98DD}" type="datetimeFigureOut">
              <a:t>24/10/25</a:t>
            </a:fld>
            <a:endParaRPr lang="en-V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8B4E8EC-94C0-9245-8D1B-1E799525FF0E}" type="slidenum">
              <a:t>‹#›</a:t>
            </a:fld>
            <a:endParaRPr lang="en-VN"/>
          </a:p>
        </p:txBody>
      </p:sp>
    </p:spTree>
    <p:extLst>
      <p:ext uri="{BB962C8B-B14F-4D97-AF65-F5344CB8AC3E}">
        <p14:creationId xmlns:p14="http://schemas.microsoft.com/office/powerpoint/2010/main" val="32112673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a:p>
        </p:txBody>
      </p:sp>
      <p:sp>
        <p:nvSpPr>
          <p:cNvPr id="4" name="Slide Number Placeholder 3"/>
          <p:cNvSpPr>
            <a:spLocks noGrp="1"/>
          </p:cNvSpPr>
          <p:nvPr>
            <p:ph type="sldNum" sz="quarter" idx="5"/>
          </p:nvPr>
        </p:nvSpPr>
        <p:spPr/>
        <p:txBody>
          <a:bodyPr/>
          <a:lstStyle/>
          <a:p>
            <a:fld id="{C8B4E8EC-94C0-9245-8D1B-1E799525FF0E}" type="slidenum">
              <a:t>1</a:t>
            </a:fld>
            <a:endParaRPr lang="en-VN"/>
          </a:p>
        </p:txBody>
      </p:sp>
    </p:spTree>
    <p:extLst>
      <p:ext uri="{BB962C8B-B14F-4D97-AF65-F5344CB8AC3E}">
        <p14:creationId xmlns:p14="http://schemas.microsoft.com/office/powerpoint/2010/main" val="29633928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a:p>
        </p:txBody>
      </p:sp>
      <p:sp>
        <p:nvSpPr>
          <p:cNvPr id="4" name="Slide Number Placeholder 3"/>
          <p:cNvSpPr>
            <a:spLocks noGrp="1"/>
          </p:cNvSpPr>
          <p:nvPr>
            <p:ph type="sldNum" sz="quarter" idx="5"/>
          </p:nvPr>
        </p:nvSpPr>
        <p:spPr/>
        <p:txBody>
          <a:bodyPr/>
          <a:lstStyle/>
          <a:p>
            <a:fld id="{C8B4E8EC-94C0-9245-8D1B-1E799525FF0E}" type="slidenum">
              <a:rPr lang="en-VN"/>
              <a:t>2</a:t>
            </a:fld>
            <a:endParaRPr lang="en-VN"/>
          </a:p>
        </p:txBody>
      </p:sp>
    </p:spTree>
    <p:extLst>
      <p:ext uri="{BB962C8B-B14F-4D97-AF65-F5344CB8AC3E}">
        <p14:creationId xmlns:p14="http://schemas.microsoft.com/office/powerpoint/2010/main" val="33533263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a:p>
        </p:txBody>
      </p:sp>
      <p:sp>
        <p:nvSpPr>
          <p:cNvPr id="4" name="Slide Number Placeholder 3"/>
          <p:cNvSpPr>
            <a:spLocks noGrp="1"/>
          </p:cNvSpPr>
          <p:nvPr>
            <p:ph type="sldNum" sz="quarter" idx="5"/>
          </p:nvPr>
        </p:nvSpPr>
        <p:spPr/>
        <p:txBody>
          <a:bodyPr/>
          <a:lstStyle/>
          <a:p>
            <a:fld id="{C8B4E8EC-94C0-9245-8D1B-1E799525FF0E}" type="slidenum">
              <a:rPr lang="en-VN"/>
              <a:t>4</a:t>
            </a:fld>
            <a:endParaRPr lang="en-VN"/>
          </a:p>
        </p:txBody>
      </p:sp>
    </p:spTree>
    <p:extLst>
      <p:ext uri="{BB962C8B-B14F-4D97-AF65-F5344CB8AC3E}">
        <p14:creationId xmlns:p14="http://schemas.microsoft.com/office/powerpoint/2010/main" val="41080965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3B32C6-DF18-484F-EDCC-E66C812C38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CB3708-3D04-5FAA-833A-30ED815C75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1DBB1E-49B5-E9FB-DE2C-403AE636023C}"/>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820028B9-0F6C-9E49-E7BE-E4E2C6DF08D4}"/>
              </a:ext>
            </a:extLst>
          </p:cNvPr>
          <p:cNvSpPr>
            <a:spLocks noGrp="1"/>
          </p:cNvSpPr>
          <p:nvPr>
            <p:ph type="sldNum" sz="quarter" idx="5"/>
          </p:nvPr>
        </p:nvSpPr>
        <p:spPr/>
        <p:txBody>
          <a:bodyPr/>
          <a:lstStyle/>
          <a:p>
            <a:fld id="{C8B4E8EC-94C0-9245-8D1B-1E799525FF0E}" type="slidenum">
              <a:rPr lang="en-VN"/>
              <a:t>5</a:t>
            </a:fld>
            <a:endParaRPr lang="en-VN"/>
          </a:p>
        </p:txBody>
      </p:sp>
    </p:spTree>
    <p:extLst>
      <p:ext uri="{BB962C8B-B14F-4D97-AF65-F5344CB8AC3E}">
        <p14:creationId xmlns:p14="http://schemas.microsoft.com/office/powerpoint/2010/main" val="35496991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F6052F-DE49-FAE8-7EB4-19C6624A06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6C758F-D35D-A6EF-E902-5943809390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684999-A55F-3287-837A-EDA2758C2209}"/>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A4148673-99C7-6F04-189C-B18F404EF81A}"/>
              </a:ext>
            </a:extLst>
          </p:cNvPr>
          <p:cNvSpPr>
            <a:spLocks noGrp="1"/>
          </p:cNvSpPr>
          <p:nvPr>
            <p:ph type="sldNum" sz="quarter" idx="5"/>
          </p:nvPr>
        </p:nvSpPr>
        <p:spPr/>
        <p:txBody>
          <a:bodyPr/>
          <a:lstStyle/>
          <a:p>
            <a:fld id="{C8B4E8EC-94C0-9245-8D1B-1E799525FF0E}" type="slidenum">
              <a:rPr lang="en-VN"/>
              <a:t>6</a:t>
            </a:fld>
            <a:endParaRPr lang="en-VN"/>
          </a:p>
        </p:txBody>
      </p:sp>
    </p:spTree>
    <p:extLst>
      <p:ext uri="{BB962C8B-B14F-4D97-AF65-F5344CB8AC3E}">
        <p14:creationId xmlns:p14="http://schemas.microsoft.com/office/powerpoint/2010/main" val="40459574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4405A1-99FA-B5FD-D98E-D854D1595F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E91715-9E60-D2EA-17D5-064CD08426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7E3DF9-D63B-B2C6-1391-AAEB2F280FA1}"/>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2CA6CBBD-087F-1C8C-7755-476389E78B07}"/>
              </a:ext>
            </a:extLst>
          </p:cNvPr>
          <p:cNvSpPr>
            <a:spLocks noGrp="1"/>
          </p:cNvSpPr>
          <p:nvPr>
            <p:ph type="sldNum" sz="quarter" idx="5"/>
          </p:nvPr>
        </p:nvSpPr>
        <p:spPr/>
        <p:txBody>
          <a:bodyPr/>
          <a:lstStyle/>
          <a:p>
            <a:fld id="{C8B4E8EC-94C0-9245-8D1B-1E799525FF0E}" type="slidenum">
              <a:rPr lang="en-VN"/>
              <a:t>9</a:t>
            </a:fld>
            <a:endParaRPr lang="en-VN"/>
          </a:p>
        </p:txBody>
      </p:sp>
    </p:spTree>
    <p:extLst>
      <p:ext uri="{BB962C8B-B14F-4D97-AF65-F5344CB8AC3E}">
        <p14:creationId xmlns:p14="http://schemas.microsoft.com/office/powerpoint/2010/main" val="40019410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609CD1-4931-5AC7-6083-29F44AD3A2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9CEAAF-7677-56DF-4A94-00D6B327D0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639B22-67BF-DCFD-28AF-484494C8E021}"/>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E43A6980-4013-07C5-5E89-1AE9F4282448}"/>
              </a:ext>
            </a:extLst>
          </p:cNvPr>
          <p:cNvSpPr>
            <a:spLocks noGrp="1"/>
          </p:cNvSpPr>
          <p:nvPr>
            <p:ph type="sldNum" sz="quarter" idx="5"/>
          </p:nvPr>
        </p:nvSpPr>
        <p:spPr/>
        <p:txBody>
          <a:bodyPr/>
          <a:lstStyle/>
          <a:p>
            <a:fld id="{C8B4E8EC-94C0-9245-8D1B-1E799525FF0E}" type="slidenum">
              <a:t>10</a:t>
            </a:fld>
            <a:endParaRPr lang="en-VN"/>
          </a:p>
        </p:txBody>
      </p:sp>
    </p:spTree>
    <p:extLst>
      <p:ext uri="{BB962C8B-B14F-4D97-AF65-F5344CB8AC3E}">
        <p14:creationId xmlns:p14="http://schemas.microsoft.com/office/powerpoint/2010/main" val="20963846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6761983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7278337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098230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5018640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10/24/25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7795997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10/24/25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3653569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10/24/25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478019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0444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1095162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735641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6258108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AF2E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10/24/25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254010516"/>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9.jpeg"/></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emf"/><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2150"/>
        </a:solidFill>
        <a:effectLst/>
      </p:bgPr>
    </p:bg>
    <p:spTree>
      <p:nvGrpSpPr>
        <p:cNvPr id="1" name=""/>
        <p:cNvGrpSpPr/>
        <p:nvPr/>
      </p:nvGrpSpPr>
      <p:grpSpPr>
        <a:xfrm>
          <a:off x="0" y="0"/>
          <a:ext cx="0" cy="0"/>
          <a:chOff x="0" y="0"/>
          <a:chExt cx="0" cy="0"/>
        </a:xfrm>
      </p:grpSpPr>
      <p:grpSp>
        <p:nvGrpSpPr>
          <p:cNvPr id="3" name="Group 3"/>
          <p:cNvGrpSpPr/>
          <p:nvPr/>
        </p:nvGrpSpPr>
        <p:grpSpPr>
          <a:xfrm rot="-5400000">
            <a:off x="9967914" y="5295922"/>
            <a:ext cx="2183931" cy="50291"/>
            <a:chOff x="-86601" y="-602"/>
            <a:chExt cx="575192" cy="13245"/>
          </a:xfrm>
          <a:solidFill>
            <a:schemeClr val="bg1">
              <a:lumMod val="95000"/>
            </a:schemeClr>
          </a:solidFill>
        </p:grpSpPr>
        <p:sp>
          <p:nvSpPr>
            <p:cNvPr id="4" name="Freeform 4"/>
            <p:cNvSpPr/>
            <p:nvPr/>
          </p:nvSpPr>
          <p:spPr>
            <a:xfrm>
              <a:off x="-86601" y="-602"/>
              <a:ext cx="575192" cy="13245"/>
            </a:xfrm>
            <a:custGeom>
              <a:avLst/>
              <a:gdLst/>
              <a:ahLst/>
              <a:cxnLst/>
              <a:rect l="l" t="t" r="r" b="b"/>
              <a:pathLst>
                <a:path w="441640" h="18205">
                  <a:moveTo>
                    <a:pt x="0" y="0"/>
                  </a:moveTo>
                  <a:lnTo>
                    <a:pt x="441640" y="0"/>
                  </a:lnTo>
                  <a:lnTo>
                    <a:pt x="441640" y="18205"/>
                  </a:lnTo>
                  <a:lnTo>
                    <a:pt x="0" y="18205"/>
                  </a:lnTo>
                  <a:close/>
                </a:path>
              </a:pathLst>
            </a:custGeom>
            <a:grpFill/>
          </p:spPr>
          <p:txBody>
            <a:bodyPr/>
            <a:lstStyle/>
            <a:p>
              <a:endParaRPr lang="en-VN">
                <a:solidFill>
                  <a:schemeClr val="bg1">
                    <a:lumMod val="95000"/>
                  </a:schemeClr>
                </a:solidFill>
              </a:endParaRPr>
            </a:p>
          </p:txBody>
        </p:sp>
        <p:sp>
          <p:nvSpPr>
            <p:cNvPr id="5" name="TextBox 5"/>
            <p:cNvSpPr txBox="1"/>
            <p:nvPr/>
          </p:nvSpPr>
          <p:spPr>
            <a:xfrm flipV="1">
              <a:off x="0" y="0"/>
              <a:ext cx="441640" cy="12041"/>
            </a:xfrm>
            <a:prstGeom prst="rect">
              <a:avLst/>
            </a:prstGeom>
            <a:grpFill/>
          </p:spPr>
          <p:txBody>
            <a:bodyPr lIns="50800" tIns="50800" rIns="50800" bIns="50800" rtlCol="0" anchor="ctr"/>
            <a:lstStyle/>
            <a:p>
              <a:pPr algn="ctr">
                <a:lnSpc>
                  <a:spcPts val="2659"/>
                </a:lnSpc>
              </a:pPr>
              <a:endParaRPr/>
            </a:p>
          </p:txBody>
        </p:sp>
      </p:grpSp>
      <p:pic>
        <p:nvPicPr>
          <p:cNvPr id="11" name="Picture 10">
            <a:extLst>
              <a:ext uri="{FF2B5EF4-FFF2-40B4-BE49-F238E27FC236}">
                <a16:creationId xmlns:a16="http://schemas.microsoft.com/office/drawing/2014/main" id="{ABC2124E-038A-65A4-35C6-12BA380E6629}"/>
              </a:ext>
            </a:extLst>
          </p:cNvPr>
          <p:cNvPicPr>
            <a:picLocks noChangeAspect="1"/>
          </p:cNvPicPr>
          <p:nvPr/>
        </p:nvPicPr>
        <p:blipFill>
          <a:blip r:embed="rId3"/>
          <a:srcRect r="32464"/>
          <a:stretch/>
        </p:blipFill>
        <p:spPr>
          <a:xfrm>
            <a:off x="11782871" y="1340663"/>
            <a:ext cx="6505129" cy="8787143"/>
          </a:xfrm>
          <a:prstGeom prst="rect">
            <a:avLst/>
          </a:prstGeom>
        </p:spPr>
      </p:pic>
      <p:sp>
        <p:nvSpPr>
          <p:cNvPr id="7" name="TextBox 7"/>
          <p:cNvSpPr txBox="1"/>
          <p:nvPr/>
        </p:nvSpPr>
        <p:spPr>
          <a:xfrm>
            <a:off x="1928945" y="3314700"/>
            <a:ext cx="9100649" cy="879600"/>
          </a:xfrm>
          <a:prstGeom prst="rect">
            <a:avLst/>
          </a:prstGeom>
        </p:spPr>
        <p:txBody>
          <a:bodyPr wrap="square" lIns="0" tIns="0" rIns="0" bIns="0" rtlCol="0" anchor="t">
            <a:spAutoFit/>
          </a:bodyPr>
          <a:lstStyle/>
          <a:p>
            <a:pPr algn="l">
              <a:lnSpc>
                <a:spcPts val="7488"/>
              </a:lnSpc>
            </a:pPr>
            <a:r>
              <a:rPr lang="en-US" sz="4300" b="1" spc="-39">
                <a:solidFill>
                  <a:schemeClr val="bg1">
                    <a:lumMod val="95000"/>
                  </a:schemeClr>
                </a:solidFill>
                <a:latin typeface="League Spartan SemiBold" pitchFamily="2" charset="77"/>
                <a:ea typeface="League Spartan"/>
                <a:cs typeface="Segoe UI" panose="020F0502020204030204" pitchFamily="34" charset="0"/>
                <a:sym typeface="League Spartan"/>
              </a:rPr>
              <a:t>Individual Honours Project</a:t>
            </a:r>
          </a:p>
        </p:txBody>
      </p:sp>
      <p:sp>
        <p:nvSpPr>
          <p:cNvPr id="8" name="TextBox 8"/>
          <p:cNvSpPr txBox="1"/>
          <p:nvPr/>
        </p:nvSpPr>
        <p:spPr>
          <a:xfrm>
            <a:off x="12260883" y="5629421"/>
            <a:ext cx="3912883" cy="478721"/>
          </a:xfrm>
          <a:prstGeom prst="rect">
            <a:avLst/>
          </a:prstGeom>
        </p:spPr>
        <p:txBody>
          <a:bodyPr lIns="0" tIns="0" rIns="0" bIns="0" rtlCol="0" anchor="t">
            <a:spAutoFit/>
          </a:bodyPr>
          <a:lstStyle/>
          <a:p>
            <a:pPr algn="ctr">
              <a:lnSpc>
                <a:spcPts val="3591"/>
              </a:lnSpc>
            </a:pPr>
            <a:r>
              <a:rPr lang="en-US" sz="3600" b="1" spc="-39">
                <a:solidFill>
                  <a:schemeClr val="bg1">
                    <a:lumMod val="95000"/>
                  </a:schemeClr>
                </a:solidFill>
                <a:latin typeface="League Spartan" pitchFamily="2" charset="77"/>
                <a:sym typeface="Gotham"/>
              </a:rPr>
              <a:t>UIT - BCU</a:t>
            </a:r>
          </a:p>
        </p:txBody>
      </p:sp>
      <p:pic>
        <p:nvPicPr>
          <p:cNvPr id="10" name="Picture 9" descr="A white lion with a black background&#10;&#10;Description automatically generated">
            <a:extLst>
              <a:ext uri="{FF2B5EF4-FFF2-40B4-BE49-F238E27FC236}">
                <a16:creationId xmlns:a16="http://schemas.microsoft.com/office/drawing/2014/main" id="{733BAFBD-C61B-8CE5-B5BB-DB6D622BA4D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108212" y="4359422"/>
            <a:ext cx="1270000" cy="1270000"/>
          </a:xfrm>
          <a:prstGeom prst="rect">
            <a:avLst/>
          </a:prstGeom>
        </p:spPr>
      </p:pic>
      <p:pic>
        <p:nvPicPr>
          <p:cNvPr id="12" name="Picture 11" descr="A white logo with a black background&#10;&#10;Description automatically generated">
            <a:extLst>
              <a:ext uri="{FF2B5EF4-FFF2-40B4-BE49-F238E27FC236}">
                <a16:creationId xmlns:a16="http://schemas.microsoft.com/office/drawing/2014/main" id="{9DD77DB8-6D66-4716-22C3-EE6D33DD66E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3095251" y="4359422"/>
            <a:ext cx="1270000" cy="1270000"/>
          </a:xfrm>
          <a:prstGeom prst="rect">
            <a:avLst/>
          </a:prstGeom>
        </p:spPr>
      </p:pic>
      <p:sp>
        <p:nvSpPr>
          <p:cNvPr id="20" name="TextBox 19">
            <a:extLst>
              <a:ext uri="{FF2B5EF4-FFF2-40B4-BE49-F238E27FC236}">
                <a16:creationId xmlns:a16="http://schemas.microsoft.com/office/drawing/2014/main" id="{88B9E007-E86A-0AE6-C8CB-A3B5C2A1C501}"/>
              </a:ext>
            </a:extLst>
          </p:cNvPr>
          <p:cNvSpPr txBox="1"/>
          <p:nvPr/>
        </p:nvSpPr>
        <p:spPr>
          <a:xfrm>
            <a:off x="1928945" y="5369055"/>
            <a:ext cx="7848600" cy="1200329"/>
          </a:xfrm>
          <a:prstGeom prst="rect">
            <a:avLst/>
          </a:prstGeom>
          <a:noFill/>
        </p:spPr>
        <p:txBody>
          <a:bodyPr wrap="square">
            <a:spAutoFit/>
          </a:bodyPr>
          <a:lstStyle/>
          <a:p>
            <a:r>
              <a:rPr lang="en-US" sz="2400" b="1" spc="-39">
                <a:solidFill>
                  <a:schemeClr val="bg1">
                    <a:lumMod val="95000"/>
                  </a:schemeClr>
                </a:solidFill>
                <a:latin typeface="League Spartan SemiBold" pitchFamily="2" charset="77"/>
              </a:rPr>
              <a:t>Dang Khoa Cao - Supervisor: PhD. Chi Thanh Vi</a:t>
            </a:r>
          </a:p>
          <a:p>
            <a:r>
              <a:rPr lang="en-US" sz="2400" b="1" spc="-39">
                <a:solidFill>
                  <a:schemeClr val="bg1">
                    <a:lumMod val="95000"/>
                  </a:schemeClr>
                </a:solidFill>
                <a:latin typeface="League Spartan SemiBold" pitchFamily="2" charset="77"/>
              </a:rPr>
              <a:t>UIT ID: 23560023 | BCU ID: 25195675</a:t>
            </a:r>
          </a:p>
          <a:p>
            <a:r>
              <a:rPr lang="en-US" sz="2400" b="1" spc="-39">
                <a:solidFill>
                  <a:schemeClr val="bg1">
                    <a:lumMod val="95000"/>
                  </a:schemeClr>
                </a:solidFill>
                <a:latin typeface="League Spartan SemiBold" pitchFamily="2" charset="77"/>
              </a:rPr>
              <a:t>23560023@gm.uit.edu.vn | dang.cao@mail.bcu.ac.uk</a:t>
            </a:r>
          </a:p>
        </p:txBody>
      </p:sp>
      <p:sp>
        <p:nvSpPr>
          <p:cNvPr id="6" name="TextBox 7">
            <a:extLst>
              <a:ext uri="{FF2B5EF4-FFF2-40B4-BE49-F238E27FC236}">
                <a16:creationId xmlns:a16="http://schemas.microsoft.com/office/drawing/2014/main" id="{9C49345E-BC6A-76FD-15B6-00B6A0F11D24}"/>
              </a:ext>
            </a:extLst>
          </p:cNvPr>
          <p:cNvSpPr txBox="1"/>
          <p:nvPr/>
        </p:nvSpPr>
        <p:spPr>
          <a:xfrm>
            <a:off x="1920951" y="4360669"/>
            <a:ext cx="9100649" cy="1011431"/>
          </a:xfrm>
          <a:prstGeom prst="rect">
            <a:avLst/>
          </a:prstGeom>
        </p:spPr>
        <p:txBody>
          <a:bodyPr wrap="square" lIns="0" tIns="0" rIns="0" bIns="0" rtlCol="0" anchor="t">
            <a:spAutoFit/>
          </a:bodyPr>
          <a:lstStyle/>
          <a:p>
            <a:pPr algn="l">
              <a:lnSpc>
                <a:spcPts val="7488"/>
              </a:lnSpc>
            </a:pPr>
            <a:r>
              <a:rPr lang="en-US" sz="7882" spc="-39">
                <a:solidFill>
                  <a:schemeClr val="bg1">
                    <a:lumMod val="95000"/>
                  </a:schemeClr>
                </a:solidFill>
                <a:latin typeface="League Spartan ExtraBold" pitchFamily="2" charset="77"/>
                <a:ea typeface="League Spartan"/>
                <a:cs typeface="Segoe UI" panose="020F0502020204030204" pitchFamily="34" charset="0"/>
                <a:sym typeface="League Spartan"/>
              </a:rPr>
              <a:t>WEEKLY REPORT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80C70D-A340-DAB8-9EA1-64002E503E4D}"/>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E8D2323-B9BE-8F0E-DE33-D0D2C1F08768}"/>
              </a:ext>
            </a:extLst>
          </p:cNvPr>
          <p:cNvGrpSpPr/>
          <p:nvPr/>
        </p:nvGrpSpPr>
        <p:grpSpPr>
          <a:xfrm rot="-5400000">
            <a:off x="-4529504" y="4190514"/>
            <a:ext cx="10587979" cy="1905972"/>
            <a:chOff x="0" y="0"/>
            <a:chExt cx="2788604" cy="501984"/>
          </a:xfrm>
        </p:grpSpPr>
        <p:sp>
          <p:nvSpPr>
            <p:cNvPr id="3" name="Freeform 3">
              <a:extLst>
                <a:ext uri="{FF2B5EF4-FFF2-40B4-BE49-F238E27FC236}">
                  <a16:creationId xmlns:a16="http://schemas.microsoft.com/office/drawing/2014/main" id="{3FC8954E-EDD7-E84C-B801-AF072740D0F7}"/>
                </a:ext>
              </a:extLst>
            </p:cNvPr>
            <p:cNvSpPr/>
            <p:nvPr/>
          </p:nvSpPr>
          <p:spPr>
            <a:xfrm>
              <a:off x="0" y="0"/>
              <a:ext cx="2788604" cy="501984"/>
            </a:xfrm>
            <a:custGeom>
              <a:avLst/>
              <a:gdLst/>
              <a:ahLst/>
              <a:cxnLst/>
              <a:rect l="l" t="t" r="r" b="b"/>
              <a:pathLst>
                <a:path w="2788604" h="501984">
                  <a:moveTo>
                    <a:pt x="0" y="0"/>
                  </a:moveTo>
                  <a:lnTo>
                    <a:pt x="2788604" y="0"/>
                  </a:lnTo>
                  <a:lnTo>
                    <a:pt x="2788604" y="501984"/>
                  </a:lnTo>
                  <a:lnTo>
                    <a:pt x="0" y="501984"/>
                  </a:lnTo>
                  <a:close/>
                </a:path>
              </a:pathLst>
            </a:custGeom>
            <a:solidFill>
              <a:srgbClr val="002250"/>
            </a:solidFill>
          </p:spPr>
          <p:txBody>
            <a:bodyPr/>
            <a:lstStyle/>
            <a:p>
              <a:endParaRPr lang="en-VN"/>
            </a:p>
          </p:txBody>
        </p:sp>
        <p:sp>
          <p:nvSpPr>
            <p:cNvPr id="4" name="TextBox 4">
              <a:extLst>
                <a:ext uri="{FF2B5EF4-FFF2-40B4-BE49-F238E27FC236}">
                  <a16:creationId xmlns:a16="http://schemas.microsoft.com/office/drawing/2014/main" id="{826D73FA-03B6-9E54-D6EF-13192DF40A06}"/>
                </a:ext>
              </a:extLst>
            </p:cNvPr>
            <p:cNvSpPr txBox="1"/>
            <p:nvPr/>
          </p:nvSpPr>
          <p:spPr>
            <a:xfrm>
              <a:off x="0" y="-38100"/>
              <a:ext cx="2788604" cy="540084"/>
            </a:xfrm>
            <a:prstGeom prst="rect">
              <a:avLst/>
            </a:prstGeom>
          </p:spPr>
          <p:txBody>
            <a:bodyPr lIns="50800" tIns="50800" rIns="50800" bIns="50800" rtlCol="0" anchor="ctr"/>
            <a:lstStyle/>
            <a:p>
              <a:pPr algn="ctr">
                <a:lnSpc>
                  <a:spcPts val="2659"/>
                </a:lnSpc>
              </a:pPr>
              <a:endParaRPr/>
            </a:p>
          </p:txBody>
        </p:sp>
      </p:grpSp>
      <p:sp>
        <p:nvSpPr>
          <p:cNvPr id="14" name="TextBox 14">
            <a:extLst>
              <a:ext uri="{FF2B5EF4-FFF2-40B4-BE49-F238E27FC236}">
                <a16:creationId xmlns:a16="http://schemas.microsoft.com/office/drawing/2014/main" id="{AC3BC617-4F6D-B15B-3477-695D78D02DBF}"/>
              </a:ext>
            </a:extLst>
          </p:cNvPr>
          <p:cNvSpPr txBox="1"/>
          <p:nvPr/>
        </p:nvSpPr>
        <p:spPr>
          <a:xfrm>
            <a:off x="2465182" y="949208"/>
            <a:ext cx="9650733" cy="1231106"/>
          </a:xfrm>
          <a:prstGeom prst="rect">
            <a:avLst/>
          </a:prstGeom>
        </p:spPr>
        <p:txBody>
          <a:bodyPr wrap="square" lIns="0" tIns="0" rIns="0" bIns="0" rtlCol="0" anchor="t">
            <a:spAutoFit/>
          </a:bodyPr>
          <a:lstStyle/>
          <a:p>
            <a:pPr>
              <a:lnSpc>
                <a:spcPts val="9595"/>
              </a:lnSpc>
            </a:pPr>
            <a:r>
              <a:rPr lang="en-US" sz="8000" b="1" spc="-505">
                <a:solidFill>
                  <a:srgbClr val="002150"/>
                </a:solidFill>
                <a:latin typeface="League Spartan ExtraBold" pitchFamily="2" charset="77"/>
                <a:ea typeface="League Spartan"/>
                <a:cs typeface="League Spartan"/>
                <a:sym typeface="League Spartan"/>
              </a:rPr>
              <a:t>TABLE OF CONTENTS</a:t>
            </a:r>
          </a:p>
        </p:txBody>
      </p:sp>
      <p:sp>
        <p:nvSpPr>
          <p:cNvPr id="5" name="TextBox 4">
            <a:extLst>
              <a:ext uri="{FF2B5EF4-FFF2-40B4-BE49-F238E27FC236}">
                <a16:creationId xmlns:a16="http://schemas.microsoft.com/office/drawing/2014/main" id="{875461D8-7782-9731-02D5-A9E55B5FBA1A}"/>
              </a:ext>
            </a:extLst>
          </p:cNvPr>
          <p:cNvSpPr txBox="1"/>
          <p:nvPr/>
        </p:nvSpPr>
        <p:spPr>
          <a:xfrm>
            <a:off x="2467339" y="2132221"/>
            <a:ext cx="3384233" cy="461665"/>
          </a:xfrm>
          <a:prstGeom prst="rect">
            <a:avLst/>
          </a:prstGeom>
          <a:noFill/>
        </p:spPr>
        <p:txBody>
          <a:bodyPr wrap="square" rtlCol="0">
            <a:spAutoFit/>
          </a:bodyPr>
          <a:lstStyle/>
          <a:p>
            <a:r>
              <a:rPr lang="en-VN" sz="2400">
                <a:solidFill>
                  <a:srgbClr val="002150"/>
                </a:solidFill>
                <a:latin typeface="League Spartan Light" pitchFamily="2" charset="77"/>
              </a:rPr>
              <a:t>Date: 25 Oct 2025</a:t>
            </a:r>
          </a:p>
        </p:txBody>
      </p:sp>
      <p:sp>
        <p:nvSpPr>
          <p:cNvPr id="6" name="TextBox 5">
            <a:extLst>
              <a:ext uri="{FF2B5EF4-FFF2-40B4-BE49-F238E27FC236}">
                <a16:creationId xmlns:a16="http://schemas.microsoft.com/office/drawing/2014/main" id="{FD292DD2-4179-4744-15F6-E70EF8D24F33}"/>
              </a:ext>
            </a:extLst>
          </p:cNvPr>
          <p:cNvSpPr txBox="1"/>
          <p:nvPr/>
        </p:nvSpPr>
        <p:spPr>
          <a:xfrm>
            <a:off x="2469664" y="3363327"/>
            <a:ext cx="11734801" cy="4003404"/>
          </a:xfrm>
          <a:prstGeom prst="rect">
            <a:avLst/>
          </a:prstGeom>
          <a:noFill/>
        </p:spPr>
        <p:txBody>
          <a:bodyPr wrap="square" rtlCol="0">
            <a:spAutoFit/>
          </a:bodyPr>
          <a:lstStyle/>
          <a:p>
            <a:pPr marL="539750" indent="-539750" algn="just">
              <a:lnSpc>
                <a:spcPct val="140000"/>
              </a:lnSpc>
              <a:buFont typeface="+mj-lt"/>
              <a:buAutoNum type="romanUcPeriod"/>
            </a:pPr>
            <a:r>
              <a:rPr lang="en-VN" sz="2300" spc="-64">
                <a:solidFill>
                  <a:srgbClr val="002250"/>
                </a:solidFill>
                <a:latin typeface="Gotham"/>
                <a:cs typeface="Gotham"/>
              </a:rPr>
              <a:t>Summary</a:t>
            </a:r>
          </a:p>
          <a:p>
            <a:pPr marL="539750" indent="-539750" algn="just">
              <a:lnSpc>
                <a:spcPct val="140000"/>
              </a:lnSpc>
              <a:buFont typeface="+mj-lt"/>
              <a:buAutoNum type="romanUcPeriod"/>
            </a:pPr>
            <a:r>
              <a:rPr lang="en-VN" sz="2300" spc="-64">
                <a:solidFill>
                  <a:srgbClr val="002250"/>
                </a:solidFill>
                <a:latin typeface="Gotham"/>
                <a:cs typeface="Gotham"/>
              </a:rPr>
              <a:t>Research Topics</a:t>
            </a:r>
          </a:p>
          <a:p>
            <a:pPr marL="1068388" lvl="1" indent="-385763" algn="just">
              <a:lnSpc>
                <a:spcPct val="140000"/>
              </a:lnSpc>
              <a:buFont typeface="+mj-lt"/>
              <a:buAutoNum type="arabicPeriod"/>
            </a:pPr>
            <a:r>
              <a:rPr lang="en-US" sz="2300" spc="-64">
                <a:solidFill>
                  <a:srgbClr val="002250"/>
                </a:solidFill>
                <a:latin typeface="Gotham"/>
                <a:cs typeface="Gotham"/>
              </a:rPr>
              <a:t>Research Approach and Methodology</a:t>
            </a:r>
            <a:endParaRPr lang="en-VN" sz="2300" spc="-64">
              <a:solidFill>
                <a:srgbClr val="002250"/>
              </a:solidFill>
              <a:latin typeface="Gotham"/>
              <a:cs typeface="Gotham"/>
            </a:endParaRPr>
          </a:p>
          <a:p>
            <a:pPr marL="1068388" lvl="1" indent="-385763" algn="just">
              <a:lnSpc>
                <a:spcPct val="140000"/>
              </a:lnSpc>
              <a:buFont typeface="+mj-lt"/>
              <a:buAutoNum type="arabicPeriod"/>
            </a:pPr>
            <a:r>
              <a:rPr lang="en-VN" sz="2300" spc="-64">
                <a:solidFill>
                  <a:srgbClr val="002250"/>
                </a:solidFill>
                <a:latin typeface="Gotham"/>
                <a:cs typeface="Gotham"/>
              </a:rPr>
              <a:t>Overview of Potential Topics</a:t>
            </a:r>
          </a:p>
          <a:p>
            <a:pPr marL="1068388" lvl="1" indent="-385763" algn="just">
              <a:lnSpc>
                <a:spcPct val="140000"/>
              </a:lnSpc>
              <a:buFont typeface="+mj-lt"/>
              <a:buAutoNum type="arabicPeriod"/>
            </a:pPr>
            <a:r>
              <a:rPr lang="en-VN" sz="2300" spc="-64">
                <a:solidFill>
                  <a:srgbClr val="002250"/>
                </a:solidFill>
                <a:latin typeface="Gotham"/>
                <a:cs typeface="Gotham"/>
              </a:rPr>
              <a:t>Shortlisted Topics</a:t>
            </a:r>
          </a:p>
          <a:p>
            <a:pPr marL="539750" indent="-539750" algn="just">
              <a:lnSpc>
                <a:spcPct val="140000"/>
              </a:lnSpc>
              <a:buFont typeface="+mj-lt"/>
              <a:buAutoNum type="romanUcPeriod"/>
            </a:pPr>
            <a:r>
              <a:rPr lang="en-VN" sz="2300" spc="-64">
                <a:solidFill>
                  <a:srgbClr val="002250"/>
                </a:solidFill>
                <a:latin typeface="Gotham"/>
                <a:cs typeface="Gotham"/>
              </a:rPr>
              <a:t>Tasks Completed This Week</a:t>
            </a:r>
          </a:p>
          <a:p>
            <a:pPr marL="539750" indent="-539750" algn="just">
              <a:lnSpc>
                <a:spcPct val="140000"/>
              </a:lnSpc>
              <a:buFont typeface="+mj-lt"/>
              <a:buAutoNum type="romanUcPeriod"/>
            </a:pPr>
            <a:r>
              <a:rPr lang="en-VN" sz="2300" spc="-64">
                <a:solidFill>
                  <a:srgbClr val="002250"/>
                </a:solidFill>
                <a:latin typeface="Gotham"/>
                <a:cs typeface="Gotham"/>
              </a:rPr>
              <a:t>Difficulties and Challenges</a:t>
            </a:r>
          </a:p>
          <a:p>
            <a:pPr marL="539750" indent="-539750" algn="just">
              <a:lnSpc>
                <a:spcPct val="140000"/>
              </a:lnSpc>
              <a:buFont typeface="+mj-lt"/>
              <a:buAutoNum type="romanUcPeriod"/>
            </a:pPr>
            <a:r>
              <a:rPr lang="en-VN" sz="2300" spc="-64">
                <a:solidFill>
                  <a:srgbClr val="002250"/>
                </a:solidFill>
                <a:latin typeface="Gotham"/>
                <a:cs typeface="Gotham"/>
              </a:rPr>
              <a:t>Next Steps</a:t>
            </a:r>
          </a:p>
        </p:txBody>
      </p:sp>
      <p:sp>
        <p:nvSpPr>
          <p:cNvPr id="13" name="AutoShape 13">
            <a:extLst>
              <a:ext uri="{FF2B5EF4-FFF2-40B4-BE49-F238E27FC236}">
                <a16:creationId xmlns:a16="http://schemas.microsoft.com/office/drawing/2014/main" id="{9D718787-F81D-69D8-4CA2-041C62F93E17}"/>
              </a:ext>
            </a:extLst>
          </p:cNvPr>
          <p:cNvSpPr/>
          <p:nvPr/>
        </p:nvSpPr>
        <p:spPr>
          <a:xfrm>
            <a:off x="8229600" y="10767257"/>
            <a:ext cx="9480537" cy="0"/>
          </a:xfrm>
          <a:prstGeom prst="line">
            <a:avLst/>
          </a:prstGeom>
          <a:ln w="9525" cap="flat">
            <a:solidFill>
              <a:srgbClr val="002250"/>
            </a:solidFill>
            <a:prstDash val="sysDot"/>
            <a:headEnd type="none" w="sm" len="sm"/>
            <a:tailEnd type="none" w="sm" len="sm"/>
          </a:ln>
        </p:spPr>
        <p:txBody>
          <a:bodyPr/>
          <a:lstStyle/>
          <a:p>
            <a:endParaRPr lang="en-VN"/>
          </a:p>
        </p:txBody>
      </p:sp>
      <p:pic>
        <p:nvPicPr>
          <p:cNvPr id="21" name="Picture 20">
            <a:extLst>
              <a:ext uri="{FF2B5EF4-FFF2-40B4-BE49-F238E27FC236}">
                <a16:creationId xmlns:a16="http://schemas.microsoft.com/office/drawing/2014/main" id="{01B21B82-07D6-B899-DF19-E9539DC99092}"/>
              </a:ext>
            </a:extLst>
          </p:cNvPr>
          <p:cNvPicPr>
            <a:picLocks noChangeAspect="1"/>
          </p:cNvPicPr>
          <p:nvPr/>
        </p:nvPicPr>
        <p:blipFill>
          <a:blip r:embed="rId3">
            <a:duotone>
              <a:prstClr val="black"/>
              <a:srgbClr val="D9C3A5">
                <a:tint val="50000"/>
                <a:satMod val="180000"/>
              </a:srgbClr>
            </a:duotone>
            <a:alphaModFix amt="50000"/>
          </a:blip>
          <a:srcRect r="39367"/>
          <a:stretch/>
        </p:blipFill>
        <p:spPr>
          <a:xfrm>
            <a:off x="12436431" y="1448789"/>
            <a:ext cx="5851570" cy="7832479"/>
          </a:xfrm>
          <a:prstGeom prst="rect">
            <a:avLst/>
          </a:prstGeom>
        </p:spPr>
      </p:pic>
    </p:spTree>
    <p:extLst>
      <p:ext uri="{BB962C8B-B14F-4D97-AF65-F5344CB8AC3E}">
        <p14:creationId xmlns:p14="http://schemas.microsoft.com/office/powerpoint/2010/main" val="16839808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2"/>
          <p:cNvSpPr txBox="1"/>
          <p:nvPr/>
        </p:nvSpPr>
        <p:spPr>
          <a:xfrm>
            <a:off x="1143000" y="2279932"/>
            <a:ext cx="5197969" cy="663195"/>
          </a:xfrm>
          <a:prstGeom prst="rect">
            <a:avLst/>
          </a:prstGeom>
        </p:spPr>
        <p:txBody>
          <a:bodyPr wrap="square" lIns="0" tIns="0" rIns="0" bIns="0" rtlCol="0" anchor="t">
            <a:spAutoFit/>
          </a:bodyPr>
          <a:lstStyle/>
          <a:p>
            <a:pPr marL="0" lvl="0" indent="0" algn="l">
              <a:lnSpc>
                <a:spcPts val="4601"/>
              </a:lnSpc>
            </a:pPr>
            <a:r>
              <a:rPr lang="en-US" sz="6000" b="1" spc="-77">
                <a:solidFill>
                  <a:srgbClr val="002150"/>
                </a:solidFill>
                <a:latin typeface="League Spartan"/>
                <a:ea typeface="League Spartan"/>
                <a:cs typeface="League Spartan"/>
                <a:sym typeface="League Spartan"/>
              </a:rPr>
              <a:t>I. SUMMARY</a:t>
            </a:r>
          </a:p>
        </p:txBody>
      </p:sp>
      <p:sp>
        <p:nvSpPr>
          <p:cNvPr id="26" name="AutoShape 26"/>
          <p:cNvSpPr/>
          <p:nvPr/>
        </p:nvSpPr>
        <p:spPr>
          <a:xfrm flipV="1">
            <a:off x="11947020" y="1194282"/>
            <a:ext cx="0" cy="2116120"/>
          </a:xfrm>
          <a:prstGeom prst="line">
            <a:avLst/>
          </a:prstGeom>
          <a:ln w="9525" cap="flat">
            <a:solidFill>
              <a:srgbClr val="F7E7D7"/>
            </a:solidFill>
            <a:prstDash val="sysDot"/>
            <a:headEnd type="none" w="sm" len="sm"/>
            <a:tailEnd type="none" w="sm" len="sm"/>
          </a:ln>
        </p:spPr>
        <p:txBody>
          <a:bodyPr/>
          <a:lstStyle/>
          <a:p>
            <a:endParaRPr lang="en-VN"/>
          </a:p>
        </p:txBody>
      </p:sp>
      <p:grpSp>
        <p:nvGrpSpPr>
          <p:cNvPr id="28" name="Group 28"/>
          <p:cNvGrpSpPr>
            <a:grpSpLocks/>
          </p:cNvGrpSpPr>
          <p:nvPr/>
        </p:nvGrpSpPr>
        <p:grpSpPr>
          <a:xfrm>
            <a:off x="0" y="-17764"/>
            <a:ext cx="6768300" cy="1330380"/>
            <a:chOff x="0" y="-38100"/>
            <a:chExt cx="1782597" cy="383810"/>
          </a:xfrm>
        </p:grpSpPr>
        <p:sp>
          <p:nvSpPr>
            <p:cNvPr id="29" name="Freeform 29"/>
            <p:cNvSpPr>
              <a:spLocks/>
            </p:cNvSpPr>
            <p:nvPr/>
          </p:nvSpPr>
          <p:spPr>
            <a:xfrm>
              <a:off x="0" y="-38100"/>
              <a:ext cx="1782597" cy="383810"/>
            </a:xfrm>
            <a:custGeom>
              <a:avLst/>
              <a:gdLst/>
              <a:ahLst/>
              <a:cxnLst/>
              <a:rect l="l" t="t" r="r" b="b"/>
              <a:pathLst>
                <a:path w="1782597" h="345710">
                  <a:moveTo>
                    <a:pt x="0" y="0"/>
                  </a:moveTo>
                  <a:lnTo>
                    <a:pt x="1782597" y="0"/>
                  </a:lnTo>
                  <a:lnTo>
                    <a:pt x="1782597" y="345710"/>
                  </a:lnTo>
                  <a:lnTo>
                    <a:pt x="0" y="345710"/>
                  </a:lnTo>
                  <a:close/>
                </a:path>
              </a:pathLst>
            </a:custGeom>
            <a:solidFill>
              <a:srgbClr val="002250"/>
            </a:solidFill>
          </p:spPr>
          <p:txBody>
            <a:bodyPr/>
            <a:lstStyle/>
            <a:p>
              <a:endParaRPr lang="en-VN"/>
            </a:p>
          </p:txBody>
        </p:sp>
        <p:sp>
          <p:nvSpPr>
            <p:cNvPr id="30" name="TextBox 30"/>
            <p:cNvSpPr txBox="1">
              <a:spLocks/>
            </p:cNvSpPr>
            <p:nvPr/>
          </p:nvSpPr>
          <p:spPr>
            <a:xfrm>
              <a:off x="0" y="-38100"/>
              <a:ext cx="1782597" cy="383810"/>
            </a:xfrm>
            <a:prstGeom prst="rect">
              <a:avLst/>
            </a:prstGeom>
          </p:spPr>
          <p:txBody>
            <a:bodyPr lIns="50800" tIns="50800" rIns="50800" bIns="50800" rtlCol="0" anchor="ctr"/>
            <a:lstStyle/>
            <a:p>
              <a:pPr algn="ctr">
                <a:lnSpc>
                  <a:spcPts val="2659"/>
                </a:lnSpc>
              </a:pPr>
              <a:endParaRPr/>
            </a:p>
          </p:txBody>
        </p:sp>
      </p:grpSp>
      <p:sp>
        <p:nvSpPr>
          <p:cNvPr id="34" name="TextBox 33">
            <a:extLst>
              <a:ext uri="{FF2B5EF4-FFF2-40B4-BE49-F238E27FC236}">
                <a16:creationId xmlns:a16="http://schemas.microsoft.com/office/drawing/2014/main" id="{44B14B5D-9DA9-AC1C-3C0F-759068A8F40F}"/>
              </a:ext>
            </a:extLst>
          </p:cNvPr>
          <p:cNvSpPr txBox="1"/>
          <p:nvPr/>
        </p:nvSpPr>
        <p:spPr>
          <a:xfrm>
            <a:off x="1143000" y="3656549"/>
            <a:ext cx="13411198" cy="3454792"/>
          </a:xfrm>
          <a:prstGeom prst="rect">
            <a:avLst/>
          </a:prstGeom>
          <a:noFill/>
        </p:spPr>
        <p:txBody>
          <a:bodyPr wrap="square" rtlCol="0">
            <a:spAutoFit/>
          </a:bodyPr>
          <a:lstStyle/>
          <a:p>
            <a:pPr marL="342900" indent="-342900" algn="just">
              <a:lnSpc>
                <a:spcPct val="120000"/>
              </a:lnSpc>
              <a:buFont typeface="System Font Regular"/>
              <a:buChar char="⎯"/>
            </a:pPr>
            <a:r>
              <a:rPr lang="en-US" sz="2300" spc="-64">
                <a:solidFill>
                  <a:srgbClr val="002250"/>
                </a:solidFill>
                <a:latin typeface="Gotham"/>
                <a:cs typeface="Gotham"/>
              </a:rPr>
              <a:t>This week, I spent time exploring different research directions in the BCI field. My goal was to understand what each topic is about and figure out which ones match my interests, capabilities, and future goals the best.</a:t>
            </a:r>
          </a:p>
          <a:p>
            <a:pPr marL="342900" indent="-342900" algn="just">
              <a:lnSpc>
                <a:spcPct val="120000"/>
              </a:lnSpc>
              <a:buFont typeface="System Font Regular"/>
              <a:buChar char="⎯"/>
            </a:pPr>
            <a:endParaRPr lang="en-US" sz="2300" spc="-64">
              <a:solidFill>
                <a:srgbClr val="002250"/>
              </a:solidFill>
              <a:latin typeface="Gotham"/>
              <a:cs typeface="Gotham"/>
            </a:endParaRPr>
          </a:p>
          <a:p>
            <a:pPr marL="342900" indent="-342900" algn="just">
              <a:lnSpc>
                <a:spcPct val="120000"/>
              </a:lnSpc>
              <a:buFont typeface="System Font Regular"/>
              <a:buChar char="⎯"/>
            </a:pPr>
            <a:r>
              <a:rPr lang="en-US" sz="2300" spc="-64">
                <a:solidFill>
                  <a:srgbClr val="002250"/>
                </a:solidFill>
                <a:latin typeface="Gotham"/>
                <a:cs typeface="Gotham"/>
              </a:rPr>
              <a:t>I don’t want this to just be another short project — I really want to take it seriously and develop it into a strong paper that could be good enough for a journal or conference. I’m hoping this research can later become part of my portfolio when I apply for a Master’s degree in Texas, so I’m planning everything carefully from the start.</a:t>
            </a:r>
          </a:p>
        </p:txBody>
      </p:sp>
      <p:pic>
        <p:nvPicPr>
          <p:cNvPr id="41" name="Picture 40">
            <a:extLst>
              <a:ext uri="{FF2B5EF4-FFF2-40B4-BE49-F238E27FC236}">
                <a16:creationId xmlns:a16="http://schemas.microsoft.com/office/drawing/2014/main" id="{B22FA0A4-479A-C0FF-85E8-7AE92A1A11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68301" y="-38099"/>
            <a:ext cx="11519700" cy="135899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Group 23"/>
          <p:cNvGrpSpPr/>
          <p:nvPr/>
        </p:nvGrpSpPr>
        <p:grpSpPr>
          <a:xfrm>
            <a:off x="0" y="-9525"/>
            <a:ext cx="6778553" cy="1312616"/>
            <a:chOff x="0" y="0"/>
            <a:chExt cx="2038402" cy="345710"/>
          </a:xfrm>
        </p:grpSpPr>
        <p:sp>
          <p:nvSpPr>
            <p:cNvPr id="24" name="Freeform 24"/>
            <p:cNvSpPr/>
            <p:nvPr/>
          </p:nvSpPr>
          <p:spPr>
            <a:xfrm>
              <a:off x="0" y="0"/>
              <a:ext cx="2038402" cy="345710"/>
            </a:xfrm>
            <a:custGeom>
              <a:avLst/>
              <a:gdLst/>
              <a:ahLst/>
              <a:cxnLst/>
              <a:rect l="l" t="t" r="r" b="b"/>
              <a:pathLst>
                <a:path w="2038402" h="345710">
                  <a:moveTo>
                    <a:pt x="0" y="0"/>
                  </a:moveTo>
                  <a:lnTo>
                    <a:pt x="2038402" y="0"/>
                  </a:lnTo>
                  <a:lnTo>
                    <a:pt x="2038402" y="345710"/>
                  </a:lnTo>
                  <a:lnTo>
                    <a:pt x="0" y="345710"/>
                  </a:lnTo>
                  <a:close/>
                </a:path>
              </a:pathLst>
            </a:custGeom>
            <a:solidFill>
              <a:srgbClr val="002250"/>
            </a:solidFill>
          </p:spPr>
          <p:txBody>
            <a:bodyPr/>
            <a:lstStyle/>
            <a:p>
              <a:endParaRPr lang="en-VN"/>
            </a:p>
          </p:txBody>
        </p:sp>
        <p:sp>
          <p:nvSpPr>
            <p:cNvPr id="25" name="TextBox 25"/>
            <p:cNvSpPr txBox="1"/>
            <p:nvPr/>
          </p:nvSpPr>
          <p:spPr>
            <a:xfrm>
              <a:off x="0" y="-38100"/>
              <a:ext cx="2038402" cy="383810"/>
            </a:xfrm>
            <a:prstGeom prst="rect">
              <a:avLst/>
            </a:prstGeom>
          </p:spPr>
          <p:txBody>
            <a:bodyPr lIns="50800" tIns="50800" rIns="50800" bIns="50800" rtlCol="0" anchor="ctr"/>
            <a:lstStyle/>
            <a:p>
              <a:pPr algn="ctr">
                <a:lnSpc>
                  <a:spcPts val="2659"/>
                </a:lnSpc>
              </a:pPr>
              <a:endParaRPr/>
            </a:p>
          </p:txBody>
        </p:sp>
      </p:grpSp>
      <p:grpSp>
        <p:nvGrpSpPr>
          <p:cNvPr id="26" name="Group 26"/>
          <p:cNvGrpSpPr/>
          <p:nvPr/>
        </p:nvGrpSpPr>
        <p:grpSpPr>
          <a:xfrm>
            <a:off x="6768300" y="0"/>
            <a:ext cx="11519700" cy="1312616"/>
            <a:chOff x="0" y="0"/>
            <a:chExt cx="1784703" cy="203359"/>
          </a:xfrm>
        </p:grpSpPr>
        <p:sp>
          <p:nvSpPr>
            <p:cNvPr id="27" name="Freeform 27"/>
            <p:cNvSpPr/>
            <p:nvPr/>
          </p:nvSpPr>
          <p:spPr>
            <a:xfrm>
              <a:off x="0" y="0"/>
              <a:ext cx="1784703" cy="203359"/>
            </a:xfrm>
            <a:custGeom>
              <a:avLst/>
              <a:gdLst/>
              <a:ahLst/>
              <a:cxnLst/>
              <a:rect l="l" t="t" r="r" b="b"/>
              <a:pathLst>
                <a:path w="1784703" h="203359">
                  <a:moveTo>
                    <a:pt x="0" y="0"/>
                  </a:moveTo>
                  <a:lnTo>
                    <a:pt x="1784703" y="0"/>
                  </a:lnTo>
                  <a:lnTo>
                    <a:pt x="1784703" y="203359"/>
                  </a:lnTo>
                  <a:lnTo>
                    <a:pt x="0" y="203359"/>
                  </a:lnTo>
                  <a:close/>
                </a:path>
              </a:pathLst>
            </a:custGeom>
            <a:blipFill>
              <a:blip r:embed="rId3"/>
              <a:stretch>
                <a:fillRect t="-607388" b="-607388"/>
              </a:stretch>
            </a:blipFill>
          </p:spPr>
          <p:txBody>
            <a:bodyPr/>
            <a:lstStyle/>
            <a:p>
              <a:endParaRPr lang="en-VN"/>
            </a:p>
          </p:txBody>
        </p:sp>
      </p:grpSp>
      <p:sp>
        <p:nvSpPr>
          <p:cNvPr id="30" name="TextBox 22">
            <a:extLst>
              <a:ext uri="{FF2B5EF4-FFF2-40B4-BE49-F238E27FC236}">
                <a16:creationId xmlns:a16="http://schemas.microsoft.com/office/drawing/2014/main" id="{A2914F0E-3EF1-AFDF-75A1-1502AE124DDE}"/>
              </a:ext>
            </a:extLst>
          </p:cNvPr>
          <p:cNvSpPr txBox="1"/>
          <p:nvPr/>
        </p:nvSpPr>
        <p:spPr>
          <a:xfrm>
            <a:off x="1143000" y="2247900"/>
            <a:ext cx="7493153" cy="663195"/>
          </a:xfrm>
          <a:prstGeom prst="rect">
            <a:avLst/>
          </a:prstGeom>
        </p:spPr>
        <p:txBody>
          <a:bodyPr wrap="square" lIns="0" tIns="0" rIns="0" bIns="0" rtlCol="0" anchor="t">
            <a:spAutoFit/>
          </a:bodyPr>
          <a:lstStyle/>
          <a:p>
            <a:pPr marL="0" lvl="0" indent="0" algn="l">
              <a:lnSpc>
                <a:spcPts val="4601"/>
              </a:lnSpc>
            </a:pPr>
            <a:r>
              <a:rPr lang="en-US" sz="6000" b="1" spc="-77">
                <a:solidFill>
                  <a:srgbClr val="002150"/>
                </a:solidFill>
                <a:latin typeface="League Spartan"/>
                <a:ea typeface="League Spartan"/>
                <a:cs typeface="League Spartan"/>
                <a:sym typeface="League Spartan"/>
              </a:rPr>
              <a:t>II. RESEARCH TOPICS</a:t>
            </a:r>
          </a:p>
        </p:txBody>
      </p:sp>
      <p:sp>
        <p:nvSpPr>
          <p:cNvPr id="31" name="TextBox 22">
            <a:extLst>
              <a:ext uri="{FF2B5EF4-FFF2-40B4-BE49-F238E27FC236}">
                <a16:creationId xmlns:a16="http://schemas.microsoft.com/office/drawing/2014/main" id="{5DE8D49B-68A5-EC5C-4A61-F8B3C6633018}"/>
              </a:ext>
            </a:extLst>
          </p:cNvPr>
          <p:cNvSpPr txBox="1"/>
          <p:nvPr/>
        </p:nvSpPr>
        <p:spPr>
          <a:xfrm>
            <a:off x="1676400" y="2846602"/>
            <a:ext cx="8409423" cy="578556"/>
          </a:xfrm>
          <a:prstGeom prst="rect">
            <a:avLst/>
          </a:prstGeom>
        </p:spPr>
        <p:txBody>
          <a:bodyPr wrap="square" lIns="0" tIns="0" rIns="0" bIns="0" rtlCol="0" anchor="t">
            <a:spAutoFit/>
          </a:bodyPr>
          <a:lstStyle/>
          <a:p>
            <a:pPr marL="0" lvl="0" indent="0" algn="l">
              <a:lnSpc>
                <a:spcPts val="4601"/>
              </a:lnSpc>
            </a:pPr>
            <a:r>
              <a:rPr lang="en-US" sz="3700" b="1" spc="-77">
                <a:solidFill>
                  <a:srgbClr val="002150"/>
                </a:solidFill>
                <a:latin typeface="League Spartan SemiBold" pitchFamily="2" charset="77"/>
                <a:ea typeface="League Spartan"/>
                <a:cs typeface="League Spartan"/>
                <a:sym typeface="League Spartan"/>
              </a:rPr>
              <a:t>1. Research Approach and Methodology</a:t>
            </a:r>
          </a:p>
        </p:txBody>
      </p:sp>
      <p:sp>
        <p:nvSpPr>
          <p:cNvPr id="33" name="TextBox 32">
            <a:extLst>
              <a:ext uri="{FF2B5EF4-FFF2-40B4-BE49-F238E27FC236}">
                <a16:creationId xmlns:a16="http://schemas.microsoft.com/office/drawing/2014/main" id="{9BFC7792-211D-5C64-44F7-B592D76645DF}"/>
              </a:ext>
            </a:extLst>
          </p:cNvPr>
          <p:cNvSpPr txBox="1"/>
          <p:nvPr/>
        </p:nvSpPr>
        <p:spPr>
          <a:xfrm>
            <a:off x="1676400" y="4100639"/>
            <a:ext cx="13411198" cy="3454792"/>
          </a:xfrm>
          <a:prstGeom prst="rect">
            <a:avLst/>
          </a:prstGeom>
          <a:noFill/>
        </p:spPr>
        <p:txBody>
          <a:bodyPr wrap="square" rtlCol="0">
            <a:spAutoFit/>
          </a:bodyPr>
          <a:lstStyle/>
          <a:p>
            <a:pPr marL="342900" indent="-342900" algn="just">
              <a:lnSpc>
                <a:spcPct val="120000"/>
              </a:lnSpc>
              <a:buFont typeface="System Font Regular"/>
              <a:buChar char="⎯"/>
            </a:pPr>
            <a:r>
              <a:rPr lang="en-US" sz="2300" spc="-64">
                <a:solidFill>
                  <a:srgbClr val="002250"/>
                </a:solidFill>
                <a:latin typeface="Gotham"/>
                <a:cs typeface="Gotham"/>
              </a:rPr>
              <a:t>At this stage, I focused on reading introductory and review materials to understand the foundational concepts of different BCI research areas. </a:t>
            </a:r>
          </a:p>
          <a:p>
            <a:pPr marL="342900" indent="-342900" algn="just">
              <a:lnSpc>
                <a:spcPct val="120000"/>
              </a:lnSpc>
              <a:buFont typeface="System Font Regular"/>
              <a:buChar char="⎯"/>
            </a:pPr>
            <a:endParaRPr lang="en-US" sz="2300" spc="-64">
              <a:solidFill>
                <a:srgbClr val="002250"/>
              </a:solidFill>
              <a:latin typeface="Gotham"/>
              <a:cs typeface="Gotham"/>
            </a:endParaRPr>
          </a:p>
          <a:p>
            <a:pPr marL="342900" indent="-342900" algn="just">
              <a:lnSpc>
                <a:spcPct val="120000"/>
              </a:lnSpc>
              <a:buFont typeface="System Font Regular"/>
              <a:buChar char="⎯"/>
            </a:pPr>
            <a:r>
              <a:rPr lang="en-US" sz="2300" spc="-64">
                <a:solidFill>
                  <a:srgbClr val="002250"/>
                </a:solidFill>
                <a:latin typeface="Gotham"/>
                <a:cs typeface="Gotham"/>
              </a:rPr>
              <a:t>I explored by reading academic papers, using AI agents like Perplexity with data-searching function, and browsing online articles to gain a broad perspective on what each topic involves, the kind of data used, and their typical applications.</a:t>
            </a:r>
          </a:p>
          <a:p>
            <a:pPr marL="342900" indent="-342900" algn="just">
              <a:lnSpc>
                <a:spcPct val="120000"/>
              </a:lnSpc>
              <a:buFont typeface="System Font Regular"/>
              <a:buChar char="⎯"/>
            </a:pPr>
            <a:endParaRPr lang="en-US" sz="2300" spc="-64">
              <a:solidFill>
                <a:srgbClr val="002250"/>
              </a:solidFill>
              <a:latin typeface="Gotham"/>
              <a:cs typeface="Gotham"/>
            </a:endParaRPr>
          </a:p>
          <a:p>
            <a:pPr marL="342900" indent="-342900" algn="just">
              <a:lnSpc>
                <a:spcPct val="120000"/>
              </a:lnSpc>
              <a:buFont typeface="System Font Regular"/>
              <a:buChar char="⎯"/>
            </a:pPr>
            <a:r>
              <a:rPr lang="en-US" sz="2300" spc="-64">
                <a:solidFill>
                  <a:srgbClr val="002250"/>
                </a:solidFill>
                <a:latin typeface="Gotham"/>
                <a:cs typeface="Gotham"/>
              </a:rPr>
              <a:t>A more formal literature review will follow once I finalize the topic.</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36CC3A-D0D5-051B-E3D9-45331B9E14ED}"/>
            </a:ext>
          </a:extLst>
        </p:cNvPr>
        <p:cNvGrpSpPr/>
        <p:nvPr/>
      </p:nvGrpSpPr>
      <p:grpSpPr>
        <a:xfrm>
          <a:off x="0" y="0"/>
          <a:ext cx="0" cy="0"/>
          <a:chOff x="0" y="0"/>
          <a:chExt cx="0" cy="0"/>
        </a:xfrm>
      </p:grpSpPr>
      <p:grpSp>
        <p:nvGrpSpPr>
          <p:cNvPr id="23" name="Group 23">
            <a:extLst>
              <a:ext uri="{FF2B5EF4-FFF2-40B4-BE49-F238E27FC236}">
                <a16:creationId xmlns:a16="http://schemas.microsoft.com/office/drawing/2014/main" id="{3C24A28B-3FF3-2B94-E92D-C4419C6EF683}"/>
              </a:ext>
            </a:extLst>
          </p:cNvPr>
          <p:cNvGrpSpPr/>
          <p:nvPr/>
        </p:nvGrpSpPr>
        <p:grpSpPr>
          <a:xfrm>
            <a:off x="0" y="-9525"/>
            <a:ext cx="6778553" cy="1312616"/>
            <a:chOff x="0" y="0"/>
            <a:chExt cx="2038402" cy="345710"/>
          </a:xfrm>
        </p:grpSpPr>
        <p:sp>
          <p:nvSpPr>
            <p:cNvPr id="24" name="Freeform 24">
              <a:extLst>
                <a:ext uri="{FF2B5EF4-FFF2-40B4-BE49-F238E27FC236}">
                  <a16:creationId xmlns:a16="http://schemas.microsoft.com/office/drawing/2014/main" id="{EDD037BC-6357-2602-C57C-3F2CE2225931}"/>
                </a:ext>
              </a:extLst>
            </p:cNvPr>
            <p:cNvSpPr/>
            <p:nvPr/>
          </p:nvSpPr>
          <p:spPr>
            <a:xfrm>
              <a:off x="0" y="0"/>
              <a:ext cx="2038402" cy="345710"/>
            </a:xfrm>
            <a:custGeom>
              <a:avLst/>
              <a:gdLst/>
              <a:ahLst/>
              <a:cxnLst/>
              <a:rect l="l" t="t" r="r" b="b"/>
              <a:pathLst>
                <a:path w="2038402" h="345710">
                  <a:moveTo>
                    <a:pt x="0" y="0"/>
                  </a:moveTo>
                  <a:lnTo>
                    <a:pt x="2038402" y="0"/>
                  </a:lnTo>
                  <a:lnTo>
                    <a:pt x="2038402" y="345710"/>
                  </a:lnTo>
                  <a:lnTo>
                    <a:pt x="0" y="345710"/>
                  </a:lnTo>
                  <a:close/>
                </a:path>
              </a:pathLst>
            </a:custGeom>
            <a:solidFill>
              <a:srgbClr val="002250"/>
            </a:solidFill>
          </p:spPr>
          <p:txBody>
            <a:bodyPr/>
            <a:lstStyle/>
            <a:p>
              <a:endParaRPr lang="en-VN"/>
            </a:p>
          </p:txBody>
        </p:sp>
        <p:sp>
          <p:nvSpPr>
            <p:cNvPr id="25" name="TextBox 25">
              <a:extLst>
                <a:ext uri="{FF2B5EF4-FFF2-40B4-BE49-F238E27FC236}">
                  <a16:creationId xmlns:a16="http://schemas.microsoft.com/office/drawing/2014/main" id="{F4A89815-ADAC-D865-4C95-2BF559A9D0C2}"/>
                </a:ext>
              </a:extLst>
            </p:cNvPr>
            <p:cNvSpPr txBox="1"/>
            <p:nvPr/>
          </p:nvSpPr>
          <p:spPr>
            <a:xfrm>
              <a:off x="0" y="-38100"/>
              <a:ext cx="2038402" cy="383810"/>
            </a:xfrm>
            <a:prstGeom prst="rect">
              <a:avLst/>
            </a:prstGeom>
          </p:spPr>
          <p:txBody>
            <a:bodyPr lIns="50800" tIns="50800" rIns="50800" bIns="50800" rtlCol="0" anchor="ctr"/>
            <a:lstStyle/>
            <a:p>
              <a:pPr algn="ctr">
                <a:lnSpc>
                  <a:spcPts val="2659"/>
                </a:lnSpc>
              </a:pPr>
              <a:endParaRPr/>
            </a:p>
          </p:txBody>
        </p:sp>
      </p:grpSp>
      <p:grpSp>
        <p:nvGrpSpPr>
          <p:cNvPr id="26" name="Group 26">
            <a:extLst>
              <a:ext uri="{FF2B5EF4-FFF2-40B4-BE49-F238E27FC236}">
                <a16:creationId xmlns:a16="http://schemas.microsoft.com/office/drawing/2014/main" id="{800AB052-5F23-D508-18D9-7C566260BFDF}"/>
              </a:ext>
            </a:extLst>
          </p:cNvPr>
          <p:cNvGrpSpPr/>
          <p:nvPr/>
        </p:nvGrpSpPr>
        <p:grpSpPr>
          <a:xfrm>
            <a:off x="6768300" y="0"/>
            <a:ext cx="11519700" cy="1312616"/>
            <a:chOff x="0" y="0"/>
            <a:chExt cx="1784703" cy="203359"/>
          </a:xfrm>
        </p:grpSpPr>
        <p:sp>
          <p:nvSpPr>
            <p:cNvPr id="27" name="Freeform 27">
              <a:extLst>
                <a:ext uri="{FF2B5EF4-FFF2-40B4-BE49-F238E27FC236}">
                  <a16:creationId xmlns:a16="http://schemas.microsoft.com/office/drawing/2014/main" id="{BC2B54DA-53DB-A3EB-B77D-5F0682F99A54}"/>
                </a:ext>
              </a:extLst>
            </p:cNvPr>
            <p:cNvSpPr/>
            <p:nvPr/>
          </p:nvSpPr>
          <p:spPr>
            <a:xfrm>
              <a:off x="0" y="0"/>
              <a:ext cx="1784703" cy="203359"/>
            </a:xfrm>
            <a:custGeom>
              <a:avLst/>
              <a:gdLst/>
              <a:ahLst/>
              <a:cxnLst/>
              <a:rect l="l" t="t" r="r" b="b"/>
              <a:pathLst>
                <a:path w="1784703" h="203359">
                  <a:moveTo>
                    <a:pt x="0" y="0"/>
                  </a:moveTo>
                  <a:lnTo>
                    <a:pt x="1784703" y="0"/>
                  </a:lnTo>
                  <a:lnTo>
                    <a:pt x="1784703" y="203359"/>
                  </a:lnTo>
                  <a:lnTo>
                    <a:pt x="0" y="203359"/>
                  </a:lnTo>
                  <a:close/>
                </a:path>
              </a:pathLst>
            </a:custGeom>
            <a:blipFill>
              <a:blip r:embed="rId3"/>
              <a:stretch>
                <a:fillRect t="-607388" b="-607388"/>
              </a:stretch>
            </a:blipFill>
          </p:spPr>
          <p:txBody>
            <a:bodyPr/>
            <a:lstStyle/>
            <a:p>
              <a:endParaRPr lang="en-VN"/>
            </a:p>
          </p:txBody>
        </p:sp>
      </p:grpSp>
      <p:sp>
        <p:nvSpPr>
          <p:cNvPr id="30" name="TextBox 22">
            <a:extLst>
              <a:ext uri="{FF2B5EF4-FFF2-40B4-BE49-F238E27FC236}">
                <a16:creationId xmlns:a16="http://schemas.microsoft.com/office/drawing/2014/main" id="{354CFFA7-0457-A490-0C1F-A71CDAE76234}"/>
              </a:ext>
            </a:extLst>
          </p:cNvPr>
          <p:cNvSpPr txBox="1"/>
          <p:nvPr/>
        </p:nvSpPr>
        <p:spPr>
          <a:xfrm>
            <a:off x="1143000" y="2247900"/>
            <a:ext cx="7493153" cy="663195"/>
          </a:xfrm>
          <a:prstGeom prst="rect">
            <a:avLst/>
          </a:prstGeom>
        </p:spPr>
        <p:txBody>
          <a:bodyPr wrap="square" lIns="0" tIns="0" rIns="0" bIns="0" rtlCol="0" anchor="t">
            <a:spAutoFit/>
          </a:bodyPr>
          <a:lstStyle/>
          <a:p>
            <a:pPr marL="0" lvl="0" indent="0" algn="l">
              <a:lnSpc>
                <a:spcPts val="4601"/>
              </a:lnSpc>
            </a:pPr>
            <a:r>
              <a:rPr lang="en-US" sz="6000" b="1" spc="-77">
                <a:solidFill>
                  <a:srgbClr val="002150"/>
                </a:solidFill>
                <a:latin typeface="League Spartan"/>
                <a:ea typeface="League Spartan"/>
                <a:cs typeface="League Spartan"/>
                <a:sym typeface="League Spartan"/>
              </a:rPr>
              <a:t>II. RESEARCH TOPICS</a:t>
            </a:r>
          </a:p>
        </p:txBody>
      </p:sp>
      <p:sp>
        <p:nvSpPr>
          <p:cNvPr id="31" name="TextBox 22">
            <a:extLst>
              <a:ext uri="{FF2B5EF4-FFF2-40B4-BE49-F238E27FC236}">
                <a16:creationId xmlns:a16="http://schemas.microsoft.com/office/drawing/2014/main" id="{B0C54A9A-4B2E-A62A-B523-97130C3608F1}"/>
              </a:ext>
            </a:extLst>
          </p:cNvPr>
          <p:cNvSpPr txBox="1"/>
          <p:nvPr/>
        </p:nvSpPr>
        <p:spPr>
          <a:xfrm>
            <a:off x="1676400" y="2846602"/>
            <a:ext cx="8409423" cy="578556"/>
          </a:xfrm>
          <a:prstGeom prst="rect">
            <a:avLst/>
          </a:prstGeom>
        </p:spPr>
        <p:txBody>
          <a:bodyPr wrap="square" lIns="0" tIns="0" rIns="0" bIns="0" rtlCol="0" anchor="t">
            <a:spAutoFit/>
          </a:bodyPr>
          <a:lstStyle/>
          <a:p>
            <a:pPr marL="0" lvl="0" indent="0" algn="l">
              <a:lnSpc>
                <a:spcPts val="4601"/>
              </a:lnSpc>
            </a:pPr>
            <a:r>
              <a:rPr lang="en-US" sz="3700" b="1" spc="-77">
                <a:solidFill>
                  <a:srgbClr val="002150"/>
                </a:solidFill>
                <a:latin typeface="League Spartan SemiBold" pitchFamily="2" charset="77"/>
                <a:ea typeface="League Spartan"/>
                <a:cs typeface="League Spartan"/>
                <a:sym typeface="League Spartan"/>
              </a:rPr>
              <a:t>2. Overview of Potential Topics</a:t>
            </a:r>
          </a:p>
        </p:txBody>
      </p:sp>
      <p:sp>
        <p:nvSpPr>
          <p:cNvPr id="33" name="TextBox 32">
            <a:extLst>
              <a:ext uri="{FF2B5EF4-FFF2-40B4-BE49-F238E27FC236}">
                <a16:creationId xmlns:a16="http://schemas.microsoft.com/office/drawing/2014/main" id="{1602676D-4B68-0DBD-859A-4878B654FB72}"/>
              </a:ext>
            </a:extLst>
          </p:cNvPr>
          <p:cNvSpPr txBox="1"/>
          <p:nvPr/>
        </p:nvSpPr>
        <p:spPr>
          <a:xfrm>
            <a:off x="1676400" y="3688445"/>
            <a:ext cx="16002000" cy="4807855"/>
          </a:xfrm>
          <a:prstGeom prst="rect">
            <a:avLst/>
          </a:prstGeom>
          <a:noFill/>
        </p:spPr>
        <p:txBody>
          <a:bodyPr wrap="square" rtlCol="0">
            <a:spAutoFit/>
          </a:bodyPr>
          <a:lstStyle/>
          <a:p>
            <a:pPr marL="342900" indent="-342900" algn="just">
              <a:lnSpc>
                <a:spcPct val="120000"/>
              </a:lnSpc>
              <a:buFont typeface="System Font Regular"/>
              <a:buChar char="⎯"/>
            </a:pPr>
            <a:r>
              <a:rPr lang="en-US" sz="2300" spc="-64">
                <a:solidFill>
                  <a:srgbClr val="002250"/>
                </a:solidFill>
                <a:latin typeface="Gotham"/>
                <a:cs typeface="Gotham"/>
              </a:rPr>
              <a:t>I explored the following potential research areas in the BCI domain:</a:t>
            </a:r>
          </a:p>
          <a:p>
            <a:pPr marL="342900" indent="-342900" algn="just">
              <a:lnSpc>
                <a:spcPct val="120000"/>
              </a:lnSpc>
              <a:buFont typeface="System Font Regular"/>
              <a:buChar char="⎯"/>
            </a:pPr>
            <a:endParaRPr lang="en-US" sz="1050" spc="-64">
              <a:solidFill>
                <a:srgbClr val="002250"/>
              </a:solidFill>
              <a:latin typeface="Gotham"/>
              <a:cs typeface="Gotham"/>
            </a:endParaRPr>
          </a:p>
          <a:p>
            <a:pPr marL="1208088" indent="-492125" algn="just">
              <a:lnSpc>
                <a:spcPct val="130000"/>
              </a:lnSpc>
              <a:buFont typeface="+mj-lt"/>
              <a:buAutoNum type="arabicPeriod"/>
            </a:pPr>
            <a:r>
              <a:rPr lang="en-US" sz="2300" b="1" spc="-64">
                <a:solidFill>
                  <a:srgbClr val="002250"/>
                </a:solidFill>
                <a:latin typeface="Gotham"/>
                <a:cs typeface="Gotham"/>
              </a:rPr>
              <a:t>Emotion Recognition</a:t>
            </a:r>
            <a:endParaRPr lang="en-US" sz="2300" spc="-64">
              <a:solidFill>
                <a:srgbClr val="002250"/>
              </a:solidFill>
              <a:latin typeface="Gotham"/>
              <a:cs typeface="Gotham"/>
            </a:endParaRPr>
          </a:p>
          <a:p>
            <a:pPr marL="1208088" indent="-492125" algn="just">
              <a:lnSpc>
                <a:spcPct val="130000"/>
              </a:lnSpc>
              <a:buFont typeface="+mj-lt"/>
              <a:buAutoNum type="arabicPeriod"/>
            </a:pPr>
            <a:r>
              <a:rPr lang="en-US" sz="2300" b="1" spc="-64">
                <a:solidFill>
                  <a:srgbClr val="002250"/>
                </a:solidFill>
                <a:latin typeface="Gotham"/>
                <a:cs typeface="Gotham"/>
              </a:rPr>
              <a:t>Cross-subject Transfer Learning:</a:t>
            </a:r>
            <a:r>
              <a:rPr lang="en-US" sz="2300" spc="-64">
                <a:solidFill>
                  <a:srgbClr val="002250"/>
                </a:solidFill>
                <a:latin typeface="Gotham"/>
                <a:cs typeface="Gotham"/>
              </a:rPr>
              <a:t> improving how models trained on one subject generalize to others.</a:t>
            </a:r>
          </a:p>
          <a:p>
            <a:pPr marL="1208088" indent="-492125" algn="just">
              <a:lnSpc>
                <a:spcPct val="130000"/>
              </a:lnSpc>
              <a:buFont typeface="+mj-lt"/>
              <a:buAutoNum type="arabicPeriod"/>
            </a:pPr>
            <a:r>
              <a:rPr lang="en-US" sz="2300" b="1" spc="-64">
                <a:solidFill>
                  <a:srgbClr val="002250"/>
                </a:solidFill>
                <a:latin typeface="Gotham"/>
                <a:cs typeface="Gotham"/>
              </a:rPr>
              <a:t>Explainable AI (XAI) </a:t>
            </a:r>
          </a:p>
          <a:p>
            <a:pPr marL="1208088" indent="-492125" algn="just">
              <a:lnSpc>
                <a:spcPct val="130000"/>
              </a:lnSpc>
              <a:buFont typeface="+mj-lt"/>
              <a:buAutoNum type="arabicPeriod"/>
            </a:pPr>
            <a:r>
              <a:rPr lang="en-US" sz="2300" b="1" spc="-64">
                <a:solidFill>
                  <a:srgbClr val="002250"/>
                </a:solidFill>
                <a:latin typeface="Gotham"/>
                <a:cs typeface="Gotham"/>
              </a:rPr>
              <a:t>Temporal Dynamics:</a:t>
            </a:r>
            <a:r>
              <a:rPr lang="en-US" sz="2300" spc="-64">
                <a:solidFill>
                  <a:srgbClr val="002250"/>
                </a:solidFill>
                <a:latin typeface="Gotham"/>
                <a:cs typeface="Gotham"/>
              </a:rPr>
              <a:t> analyzing how brain signal patterns change over time.</a:t>
            </a:r>
          </a:p>
          <a:p>
            <a:pPr marL="1208088" indent="-492125" algn="just">
              <a:lnSpc>
                <a:spcPct val="130000"/>
              </a:lnSpc>
              <a:buFont typeface="+mj-lt"/>
              <a:buAutoNum type="arabicPeriod"/>
            </a:pPr>
            <a:r>
              <a:rPr lang="en-US" sz="2300" b="1" spc="-64">
                <a:solidFill>
                  <a:srgbClr val="002250"/>
                </a:solidFill>
                <a:latin typeface="Gotham"/>
                <a:cs typeface="Gotham"/>
              </a:rPr>
              <a:t>Motor Imagery</a:t>
            </a:r>
          </a:p>
          <a:p>
            <a:pPr marL="1208088" indent="-492125" algn="just">
              <a:lnSpc>
                <a:spcPct val="130000"/>
              </a:lnSpc>
              <a:buFont typeface="+mj-lt"/>
              <a:buAutoNum type="arabicPeriod"/>
            </a:pPr>
            <a:r>
              <a:rPr lang="en-US" sz="2300" b="1" spc="-64">
                <a:solidFill>
                  <a:srgbClr val="002250"/>
                </a:solidFill>
                <a:latin typeface="Gotham"/>
                <a:cs typeface="Gotham"/>
              </a:rPr>
              <a:t>Steady-State Visually Evoked Potentials (SSVEP) BCI</a:t>
            </a:r>
          </a:p>
          <a:p>
            <a:pPr marL="1208088" indent="-492125" algn="just">
              <a:lnSpc>
                <a:spcPct val="130000"/>
              </a:lnSpc>
              <a:buFont typeface="+mj-lt"/>
              <a:buAutoNum type="arabicPeriod"/>
            </a:pPr>
            <a:r>
              <a:rPr lang="en-US" sz="2300" b="1" spc="-64">
                <a:solidFill>
                  <a:srgbClr val="002250"/>
                </a:solidFill>
                <a:latin typeface="Gotham"/>
                <a:cs typeface="Gotham"/>
              </a:rPr>
              <a:t>Hybrid BCI:</a:t>
            </a:r>
            <a:r>
              <a:rPr lang="en-US" sz="2300" spc="-64">
                <a:solidFill>
                  <a:srgbClr val="002250"/>
                </a:solidFill>
                <a:latin typeface="Gotham"/>
                <a:cs typeface="Gotham"/>
              </a:rPr>
              <a:t> combining multiple signal types (e.g., EEG + EMG).</a:t>
            </a:r>
          </a:p>
          <a:p>
            <a:pPr marL="1208088" indent="-492125" algn="just">
              <a:lnSpc>
                <a:spcPct val="130000"/>
              </a:lnSpc>
              <a:buFont typeface="+mj-lt"/>
              <a:buAutoNum type="arabicPeriod"/>
            </a:pPr>
            <a:r>
              <a:rPr lang="en-US" sz="2300" b="1" spc="-64">
                <a:solidFill>
                  <a:srgbClr val="002250"/>
                </a:solidFill>
                <a:latin typeface="Gotham"/>
                <a:cs typeface="Gotham"/>
              </a:rPr>
              <a:t>Sleep Monitoring</a:t>
            </a:r>
            <a:endParaRPr lang="en-US" sz="2300" spc="-64">
              <a:solidFill>
                <a:srgbClr val="002250"/>
              </a:solidFill>
              <a:latin typeface="Gotham"/>
              <a:cs typeface="Gotham"/>
            </a:endParaRPr>
          </a:p>
          <a:p>
            <a:pPr marL="1208088" indent="-492125" algn="just">
              <a:lnSpc>
                <a:spcPct val="130000"/>
              </a:lnSpc>
              <a:buFont typeface="+mj-lt"/>
              <a:buAutoNum type="arabicPeriod"/>
            </a:pPr>
            <a:r>
              <a:rPr lang="en-US" sz="2300" b="1" spc="-64">
                <a:solidFill>
                  <a:srgbClr val="002250"/>
                </a:solidFill>
                <a:latin typeface="Gotham"/>
                <a:cs typeface="Gotham"/>
              </a:rPr>
              <a:t>Neurofeedback Training: </a:t>
            </a:r>
            <a:r>
              <a:rPr lang="en-US" sz="2300" spc="-64">
                <a:solidFill>
                  <a:srgbClr val="002250"/>
                </a:solidFill>
                <a:latin typeface="Gotham"/>
                <a:cs typeface="Gotham"/>
              </a:rPr>
              <a:t>training users to control brain activity through real-time feedback.</a:t>
            </a:r>
          </a:p>
        </p:txBody>
      </p:sp>
    </p:spTree>
    <p:extLst>
      <p:ext uri="{BB962C8B-B14F-4D97-AF65-F5344CB8AC3E}">
        <p14:creationId xmlns:p14="http://schemas.microsoft.com/office/powerpoint/2010/main" val="39582367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AA3BB-7326-D9E1-6475-2B1B779E7E24}"/>
            </a:ext>
          </a:extLst>
        </p:cNvPr>
        <p:cNvGrpSpPr/>
        <p:nvPr/>
      </p:nvGrpSpPr>
      <p:grpSpPr>
        <a:xfrm>
          <a:off x="0" y="0"/>
          <a:ext cx="0" cy="0"/>
          <a:chOff x="0" y="0"/>
          <a:chExt cx="0" cy="0"/>
        </a:xfrm>
      </p:grpSpPr>
      <p:grpSp>
        <p:nvGrpSpPr>
          <p:cNvPr id="23" name="Group 23">
            <a:extLst>
              <a:ext uri="{FF2B5EF4-FFF2-40B4-BE49-F238E27FC236}">
                <a16:creationId xmlns:a16="http://schemas.microsoft.com/office/drawing/2014/main" id="{A3578E2E-A0AD-73BB-6095-6EBD66BE3DCC}"/>
              </a:ext>
            </a:extLst>
          </p:cNvPr>
          <p:cNvGrpSpPr/>
          <p:nvPr/>
        </p:nvGrpSpPr>
        <p:grpSpPr>
          <a:xfrm>
            <a:off x="0" y="-9525"/>
            <a:ext cx="6778553" cy="1312616"/>
            <a:chOff x="0" y="0"/>
            <a:chExt cx="2038402" cy="345710"/>
          </a:xfrm>
        </p:grpSpPr>
        <p:sp>
          <p:nvSpPr>
            <p:cNvPr id="24" name="Freeform 24">
              <a:extLst>
                <a:ext uri="{FF2B5EF4-FFF2-40B4-BE49-F238E27FC236}">
                  <a16:creationId xmlns:a16="http://schemas.microsoft.com/office/drawing/2014/main" id="{AF993459-6E82-6570-6E0E-471F5F699A10}"/>
                </a:ext>
              </a:extLst>
            </p:cNvPr>
            <p:cNvSpPr/>
            <p:nvPr/>
          </p:nvSpPr>
          <p:spPr>
            <a:xfrm>
              <a:off x="0" y="0"/>
              <a:ext cx="2038402" cy="345710"/>
            </a:xfrm>
            <a:custGeom>
              <a:avLst/>
              <a:gdLst/>
              <a:ahLst/>
              <a:cxnLst/>
              <a:rect l="l" t="t" r="r" b="b"/>
              <a:pathLst>
                <a:path w="2038402" h="345710">
                  <a:moveTo>
                    <a:pt x="0" y="0"/>
                  </a:moveTo>
                  <a:lnTo>
                    <a:pt x="2038402" y="0"/>
                  </a:lnTo>
                  <a:lnTo>
                    <a:pt x="2038402" y="345710"/>
                  </a:lnTo>
                  <a:lnTo>
                    <a:pt x="0" y="345710"/>
                  </a:lnTo>
                  <a:close/>
                </a:path>
              </a:pathLst>
            </a:custGeom>
            <a:solidFill>
              <a:srgbClr val="002250"/>
            </a:solidFill>
          </p:spPr>
          <p:txBody>
            <a:bodyPr/>
            <a:lstStyle/>
            <a:p>
              <a:endParaRPr lang="en-VN"/>
            </a:p>
          </p:txBody>
        </p:sp>
        <p:sp>
          <p:nvSpPr>
            <p:cNvPr id="25" name="TextBox 25">
              <a:extLst>
                <a:ext uri="{FF2B5EF4-FFF2-40B4-BE49-F238E27FC236}">
                  <a16:creationId xmlns:a16="http://schemas.microsoft.com/office/drawing/2014/main" id="{609EB9B3-96EE-E8C8-D4B5-E6D73BBD9A3E}"/>
                </a:ext>
              </a:extLst>
            </p:cNvPr>
            <p:cNvSpPr txBox="1"/>
            <p:nvPr/>
          </p:nvSpPr>
          <p:spPr>
            <a:xfrm>
              <a:off x="0" y="-38100"/>
              <a:ext cx="2038402" cy="383810"/>
            </a:xfrm>
            <a:prstGeom prst="rect">
              <a:avLst/>
            </a:prstGeom>
          </p:spPr>
          <p:txBody>
            <a:bodyPr lIns="50800" tIns="50800" rIns="50800" bIns="50800" rtlCol="0" anchor="ctr"/>
            <a:lstStyle/>
            <a:p>
              <a:pPr algn="ctr">
                <a:lnSpc>
                  <a:spcPts val="2659"/>
                </a:lnSpc>
              </a:pPr>
              <a:endParaRPr/>
            </a:p>
          </p:txBody>
        </p:sp>
      </p:grpSp>
      <p:grpSp>
        <p:nvGrpSpPr>
          <p:cNvPr id="26" name="Group 26">
            <a:extLst>
              <a:ext uri="{FF2B5EF4-FFF2-40B4-BE49-F238E27FC236}">
                <a16:creationId xmlns:a16="http://schemas.microsoft.com/office/drawing/2014/main" id="{143F61FB-B79A-FA4C-A019-3497D0E368CB}"/>
              </a:ext>
            </a:extLst>
          </p:cNvPr>
          <p:cNvGrpSpPr/>
          <p:nvPr/>
        </p:nvGrpSpPr>
        <p:grpSpPr>
          <a:xfrm>
            <a:off x="6768300" y="0"/>
            <a:ext cx="11519700" cy="1312616"/>
            <a:chOff x="0" y="0"/>
            <a:chExt cx="1784703" cy="203359"/>
          </a:xfrm>
        </p:grpSpPr>
        <p:sp>
          <p:nvSpPr>
            <p:cNvPr id="27" name="Freeform 27">
              <a:extLst>
                <a:ext uri="{FF2B5EF4-FFF2-40B4-BE49-F238E27FC236}">
                  <a16:creationId xmlns:a16="http://schemas.microsoft.com/office/drawing/2014/main" id="{6EE9932B-0261-D4D3-C935-A8E14091BF00}"/>
                </a:ext>
              </a:extLst>
            </p:cNvPr>
            <p:cNvSpPr/>
            <p:nvPr/>
          </p:nvSpPr>
          <p:spPr>
            <a:xfrm>
              <a:off x="0" y="0"/>
              <a:ext cx="1784703" cy="203359"/>
            </a:xfrm>
            <a:custGeom>
              <a:avLst/>
              <a:gdLst/>
              <a:ahLst/>
              <a:cxnLst/>
              <a:rect l="l" t="t" r="r" b="b"/>
              <a:pathLst>
                <a:path w="1784703" h="203359">
                  <a:moveTo>
                    <a:pt x="0" y="0"/>
                  </a:moveTo>
                  <a:lnTo>
                    <a:pt x="1784703" y="0"/>
                  </a:lnTo>
                  <a:lnTo>
                    <a:pt x="1784703" y="203359"/>
                  </a:lnTo>
                  <a:lnTo>
                    <a:pt x="0" y="203359"/>
                  </a:lnTo>
                  <a:close/>
                </a:path>
              </a:pathLst>
            </a:custGeom>
            <a:blipFill>
              <a:blip r:embed="rId3"/>
              <a:stretch>
                <a:fillRect t="-607388" b="-607388"/>
              </a:stretch>
            </a:blipFill>
          </p:spPr>
          <p:txBody>
            <a:bodyPr/>
            <a:lstStyle/>
            <a:p>
              <a:endParaRPr lang="en-VN"/>
            </a:p>
          </p:txBody>
        </p:sp>
      </p:grpSp>
      <p:sp>
        <p:nvSpPr>
          <p:cNvPr id="30" name="TextBox 22">
            <a:extLst>
              <a:ext uri="{FF2B5EF4-FFF2-40B4-BE49-F238E27FC236}">
                <a16:creationId xmlns:a16="http://schemas.microsoft.com/office/drawing/2014/main" id="{5193ED74-86DC-A071-9149-ED0EEE896F5C}"/>
              </a:ext>
            </a:extLst>
          </p:cNvPr>
          <p:cNvSpPr txBox="1"/>
          <p:nvPr/>
        </p:nvSpPr>
        <p:spPr>
          <a:xfrm>
            <a:off x="1143000" y="2247900"/>
            <a:ext cx="7493153" cy="663195"/>
          </a:xfrm>
          <a:prstGeom prst="rect">
            <a:avLst/>
          </a:prstGeom>
        </p:spPr>
        <p:txBody>
          <a:bodyPr wrap="square" lIns="0" tIns="0" rIns="0" bIns="0" rtlCol="0" anchor="t">
            <a:spAutoFit/>
          </a:bodyPr>
          <a:lstStyle/>
          <a:p>
            <a:pPr marL="0" lvl="0" indent="0" algn="l">
              <a:lnSpc>
                <a:spcPts val="4601"/>
              </a:lnSpc>
            </a:pPr>
            <a:r>
              <a:rPr lang="en-US" sz="6000" b="1" spc="-77">
                <a:solidFill>
                  <a:srgbClr val="002150"/>
                </a:solidFill>
                <a:latin typeface="League Spartan"/>
                <a:ea typeface="League Spartan"/>
                <a:cs typeface="League Spartan"/>
                <a:sym typeface="League Spartan"/>
              </a:rPr>
              <a:t>II. RESEARCH TOPICS</a:t>
            </a:r>
          </a:p>
        </p:txBody>
      </p:sp>
      <p:sp>
        <p:nvSpPr>
          <p:cNvPr id="31" name="TextBox 22">
            <a:extLst>
              <a:ext uri="{FF2B5EF4-FFF2-40B4-BE49-F238E27FC236}">
                <a16:creationId xmlns:a16="http://schemas.microsoft.com/office/drawing/2014/main" id="{0943F164-23C6-E27D-B7C1-5AC85E7EACAD}"/>
              </a:ext>
            </a:extLst>
          </p:cNvPr>
          <p:cNvSpPr txBox="1"/>
          <p:nvPr/>
        </p:nvSpPr>
        <p:spPr>
          <a:xfrm>
            <a:off x="1676400" y="2846602"/>
            <a:ext cx="8409423" cy="578556"/>
          </a:xfrm>
          <a:prstGeom prst="rect">
            <a:avLst/>
          </a:prstGeom>
        </p:spPr>
        <p:txBody>
          <a:bodyPr wrap="square" lIns="0" tIns="0" rIns="0" bIns="0" rtlCol="0" anchor="t">
            <a:spAutoFit/>
          </a:bodyPr>
          <a:lstStyle/>
          <a:p>
            <a:pPr>
              <a:lnSpc>
                <a:spcPts val="4601"/>
              </a:lnSpc>
            </a:pPr>
            <a:r>
              <a:rPr lang="en-US" sz="3700" b="1" spc="-77">
                <a:solidFill>
                  <a:srgbClr val="002150"/>
                </a:solidFill>
                <a:latin typeface="League Spartan SemiBold" pitchFamily="2" charset="77"/>
                <a:ea typeface="League Spartan"/>
                <a:cs typeface="League Spartan"/>
                <a:sym typeface="League Spartan"/>
              </a:rPr>
              <a:t>3. Shortlisted Topics</a:t>
            </a:r>
          </a:p>
        </p:txBody>
      </p:sp>
      <p:sp>
        <p:nvSpPr>
          <p:cNvPr id="33" name="TextBox 32">
            <a:extLst>
              <a:ext uri="{FF2B5EF4-FFF2-40B4-BE49-F238E27FC236}">
                <a16:creationId xmlns:a16="http://schemas.microsoft.com/office/drawing/2014/main" id="{972A1F62-17EB-96FE-93EE-5BC20E727819}"/>
              </a:ext>
            </a:extLst>
          </p:cNvPr>
          <p:cNvSpPr txBox="1"/>
          <p:nvPr/>
        </p:nvSpPr>
        <p:spPr>
          <a:xfrm>
            <a:off x="1676400" y="3695700"/>
            <a:ext cx="14630400" cy="4701672"/>
          </a:xfrm>
          <a:prstGeom prst="rect">
            <a:avLst/>
          </a:prstGeom>
          <a:noFill/>
        </p:spPr>
        <p:txBody>
          <a:bodyPr wrap="square" rtlCol="0">
            <a:spAutoFit/>
          </a:bodyPr>
          <a:lstStyle/>
          <a:p>
            <a:pPr marL="342900" indent="-342900" algn="just">
              <a:lnSpc>
                <a:spcPct val="120000"/>
              </a:lnSpc>
              <a:buFont typeface="System Font Regular"/>
              <a:buChar char="⎯"/>
            </a:pPr>
            <a:r>
              <a:rPr lang="en-US" sz="2300" spc="-64">
                <a:solidFill>
                  <a:srgbClr val="002250"/>
                </a:solidFill>
                <a:latin typeface="Gotham"/>
                <a:cs typeface="Gotham"/>
              </a:rPr>
              <a:t>After exploring the basic ideas of each topic, I shortlisted five that I personally find most interesting and worth exploring further:</a:t>
            </a:r>
          </a:p>
          <a:p>
            <a:pPr marL="1208088" indent="-492125" algn="just">
              <a:lnSpc>
                <a:spcPct val="130000"/>
              </a:lnSpc>
              <a:buFont typeface="+mj-lt"/>
              <a:buAutoNum type="arabicPeriod"/>
            </a:pPr>
            <a:r>
              <a:rPr lang="en-US" sz="2300" b="1" spc="-64">
                <a:solidFill>
                  <a:srgbClr val="002250"/>
                </a:solidFill>
                <a:latin typeface="Gotham"/>
                <a:cs typeface="Gotham"/>
              </a:rPr>
              <a:t>Cross-subject Transfer Learning</a:t>
            </a:r>
          </a:p>
          <a:p>
            <a:pPr marL="1208088" indent="-492125" algn="just">
              <a:lnSpc>
                <a:spcPct val="130000"/>
              </a:lnSpc>
              <a:buFont typeface="+mj-lt"/>
              <a:buAutoNum type="arabicPeriod"/>
            </a:pPr>
            <a:r>
              <a:rPr lang="en-US" sz="2300" b="1" spc="-64">
                <a:solidFill>
                  <a:srgbClr val="002250"/>
                </a:solidFill>
                <a:latin typeface="Gotham"/>
                <a:cs typeface="Gotham"/>
              </a:rPr>
              <a:t>Temporal Dynamics</a:t>
            </a:r>
            <a:endParaRPr lang="en-US" sz="2300" spc="-64">
              <a:solidFill>
                <a:srgbClr val="002250"/>
              </a:solidFill>
              <a:latin typeface="Gotham"/>
              <a:cs typeface="Gotham"/>
            </a:endParaRPr>
          </a:p>
          <a:p>
            <a:pPr marL="1208088" indent="-492125" algn="just">
              <a:lnSpc>
                <a:spcPct val="130000"/>
              </a:lnSpc>
              <a:buFont typeface="+mj-lt"/>
              <a:buAutoNum type="arabicPeriod"/>
            </a:pPr>
            <a:r>
              <a:rPr lang="en-US" sz="2300" b="1" spc="-64">
                <a:solidFill>
                  <a:srgbClr val="002250"/>
                </a:solidFill>
                <a:latin typeface="Gotham"/>
                <a:cs typeface="Gotham"/>
              </a:rPr>
              <a:t>Motor Imagery</a:t>
            </a:r>
          </a:p>
          <a:p>
            <a:pPr marL="1208088" indent="-492125" algn="just">
              <a:lnSpc>
                <a:spcPct val="130000"/>
              </a:lnSpc>
              <a:buFont typeface="+mj-lt"/>
              <a:buAutoNum type="arabicPeriod"/>
            </a:pPr>
            <a:r>
              <a:rPr lang="en-US" sz="2300" b="1" spc="-64">
                <a:solidFill>
                  <a:srgbClr val="002250"/>
                </a:solidFill>
                <a:latin typeface="Gotham"/>
                <a:cs typeface="Gotham"/>
              </a:rPr>
              <a:t>Hybrid BCI</a:t>
            </a:r>
          </a:p>
          <a:p>
            <a:pPr marL="1208088" indent="-492125" algn="just">
              <a:lnSpc>
                <a:spcPct val="130000"/>
              </a:lnSpc>
              <a:buFont typeface="+mj-lt"/>
              <a:buAutoNum type="arabicPeriod"/>
            </a:pPr>
            <a:r>
              <a:rPr lang="en-US" sz="2300" b="1" spc="-64">
                <a:solidFill>
                  <a:srgbClr val="002250"/>
                </a:solidFill>
                <a:latin typeface="Gotham"/>
                <a:cs typeface="Gotham"/>
              </a:rPr>
              <a:t>Neurofeedback Training</a:t>
            </a:r>
            <a:endParaRPr lang="en-US" sz="2300" spc="-64">
              <a:solidFill>
                <a:srgbClr val="002250"/>
              </a:solidFill>
              <a:latin typeface="Gotham"/>
              <a:cs typeface="Gotham"/>
            </a:endParaRPr>
          </a:p>
          <a:p>
            <a:pPr marL="342900" indent="-342900" algn="just">
              <a:lnSpc>
                <a:spcPct val="120000"/>
              </a:lnSpc>
              <a:buFont typeface="System Font Regular"/>
              <a:buChar char="⎯"/>
            </a:pPr>
            <a:endParaRPr lang="en-US" sz="1050" spc="-64">
              <a:solidFill>
                <a:srgbClr val="002250"/>
              </a:solidFill>
              <a:latin typeface="Gotham"/>
              <a:cs typeface="Gotham"/>
            </a:endParaRPr>
          </a:p>
          <a:p>
            <a:pPr marL="342900" indent="-342900" algn="just">
              <a:lnSpc>
                <a:spcPct val="120000"/>
              </a:lnSpc>
              <a:buFont typeface="System Font Regular"/>
              <a:buChar char="⎯"/>
            </a:pPr>
            <a:r>
              <a:rPr lang="en-US" sz="2300" spc="-64">
                <a:solidFill>
                  <a:srgbClr val="002250"/>
                </a:solidFill>
                <a:latin typeface="Gotham"/>
                <a:cs typeface="Gotham"/>
              </a:rPr>
              <a:t>These topics stood out to me because they align with my curiosity. Some also have public datasets available, which could make them more feasible for experimentation later on.</a:t>
            </a:r>
          </a:p>
          <a:p>
            <a:pPr marL="715963" algn="just">
              <a:lnSpc>
                <a:spcPct val="130000"/>
              </a:lnSpc>
            </a:pPr>
            <a:endParaRPr lang="en-US" sz="2300" spc="-64">
              <a:solidFill>
                <a:srgbClr val="002250"/>
              </a:solidFill>
              <a:latin typeface="Gotham"/>
              <a:cs typeface="Gotham"/>
            </a:endParaRPr>
          </a:p>
        </p:txBody>
      </p:sp>
    </p:spTree>
    <p:extLst>
      <p:ext uri="{BB962C8B-B14F-4D97-AF65-F5344CB8AC3E}">
        <p14:creationId xmlns:p14="http://schemas.microsoft.com/office/powerpoint/2010/main" val="30635747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5"/>
          <p:cNvSpPr/>
          <p:nvPr/>
        </p:nvSpPr>
        <p:spPr>
          <a:xfrm>
            <a:off x="12649200" y="5636247"/>
            <a:ext cx="5119255" cy="3983711"/>
          </a:xfrm>
          <a:custGeom>
            <a:avLst/>
            <a:gdLst/>
            <a:ahLst/>
            <a:cxnLst/>
            <a:rect l="l" t="t" r="r" b="b"/>
            <a:pathLst>
              <a:path w="5347008" h="4160944">
                <a:moveTo>
                  <a:pt x="0" y="0"/>
                </a:moveTo>
                <a:lnTo>
                  <a:pt x="5347008" y="0"/>
                </a:lnTo>
                <a:lnTo>
                  <a:pt x="5347008" y="4160944"/>
                </a:lnTo>
                <a:lnTo>
                  <a:pt x="0" y="416094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VN"/>
          </a:p>
        </p:txBody>
      </p:sp>
      <p:grpSp>
        <p:nvGrpSpPr>
          <p:cNvPr id="12" name="Group 12"/>
          <p:cNvGrpSpPr/>
          <p:nvPr/>
        </p:nvGrpSpPr>
        <p:grpSpPr>
          <a:xfrm>
            <a:off x="0" y="0"/>
            <a:ext cx="6768300" cy="1312616"/>
            <a:chOff x="0" y="0"/>
            <a:chExt cx="1782597" cy="345710"/>
          </a:xfrm>
        </p:grpSpPr>
        <p:sp>
          <p:nvSpPr>
            <p:cNvPr id="13" name="Freeform 13"/>
            <p:cNvSpPr/>
            <p:nvPr/>
          </p:nvSpPr>
          <p:spPr>
            <a:xfrm>
              <a:off x="0" y="0"/>
              <a:ext cx="1782597" cy="345710"/>
            </a:xfrm>
            <a:custGeom>
              <a:avLst/>
              <a:gdLst/>
              <a:ahLst/>
              <a:cxnLst/>
              <a:rect l="l" t="t" r="r" b="b"/>
              <a:pathLst>
                <a:path w="1782597" h="345710">
                  <a:moveTo>
                    <a:pt x="0" y="0"/>
                  </a:moveTo>
                  <a:lnTo>
                    <a:pt x="1782597" y="0"/>
                  </a:lnTo>
                  <a:lnTo>
                    <a:pt x="1782597" y="345710"/>
                  </a:lnTo>
                  <a:lnTo>
                    <a:pt x="0" y="345710"/>
                  </a:lnTo>
                  <a:close/>
                </a:path>
              </a:pathLst>
            </a:custGeom>
            <a:solidFill>
              <a:srgbClr val="002250"/>
            </a:solidFill>
          </p:spPr>
          <p:txBody>
            <a:bodyPr/>
            <a:lstStyle/>
            <a:p>
              <a:endParaRPr lang="en-VN"/>
            </a:p>
          </p:txBody>
        </p:sp>
        <p:sp>
          <p:nvSpPr>
            <p:cNvPr id="14" name="TextBox 14"/>
            <p:cNvSpPr txBox="1"/>
            <p:nvPr/>
          </p:nvSpPr>
          <p:spPr>
            <a:xfrm>
              <a:off x="0" y="-38100"/>
              <a:ext cx="1782597" cy="383810"/>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6768300" y="0"/>
            <a:ext cx="11519700" cy="1312616"/>
            <a:chOff x="0" y="0"/>
            <a:chExt cx="1784703" cy="203359"/>
          </a:xfrm>
        </p:grpSpPr>
        <p:sp>
          <p:nvSpPr>
            <p:cNvPr id="16" name="Freeform 16"/>
            <p:cNvSpPr/>
            <p:nvPr/>
          </p:nvSpPr>
          <p:spPr>
            <a:xfrm>
              <a:off x="0" y="0"/>
              <a:ext cx="1784703" cy="203359"/>
            </a:xfrm>
            <a:custGeom>
              <a:avLst/>
              <a:gdLst/>
              <a:ahLst/>
              <a:cxnLst/>
              <a:rect l="l" t="t" r="r" b="b"/>
              <a:pathLst>
                <a:path w="1784703" h="203359">
                  <a:moveTo>
                    <a:pt x="0" y="0"/>
                  </a:moveTo>
                  <a:lnTo>
                    <a:pt x="1784703" y="0"/>
                  </a:lnTo>
                  <a:lnTo>
                    <a:pt x="1784703" y="203359"/>
                  </a:lnTo>
                  <a:lnTo>
                    <a:pt x="0" y="203359"/>
                  </a:lnTo>
                  <a:close/>
                </a:path>
              </a:pathLst>
            </a:custGeom>
            <a:blipFill>
              <a:blip r:embed="rId4"/>
              <a:stretch>
                <a:fillRect t="-369671" b="-115038"/>
              </a:stretch>
            </a:blipFill>
          </p:spPr>
          <p:txBody>
            <a:bodyPr/>
            <a:lstStyle/>
            <a:p>
              <a:endParaRPr lang="en-VN"/>
            </a:p>
          </p:txBody>
        </p:sp>
      </p:grpSp>
      <p:sp>
        <p:nvSpPr>
          <p:cNvPr id="20" name="TextBox 22">
            <a:extLst>
              <a:ext uri="{FF2B5EF4-FFF2-40B4-BE49-F238E27FC236}">
                <a16:creationId xmlns:a16="http://schemas.microsoft.com/office/drawing/2014/main" id="{D350CC56-EDB0-2AEB-D9AA-DACD92AC892B}"/>
              </a:ext>
            </a:extLst>
          </p:cNvPr>
          <p:cNvSpPr txBox="1"/>
          <p:nvPr/>
        </p:nvSpPr>
        <p:spPr>
          <a:xfrm>
            <a:off x="1142999" y="2267222"/>
            <a:ext cx="11277601" cy="663195"/>
          </a:xfrm>
          <a:prstGeom prst="rect">
            <a:avLst/>
          </a:prstGeom>
        </p:spPr>
        <p:txBody>
          <a:bodyPr wrap="square" lIns="0" tIns="0" rIns="0" bIns="0" rtlCol="0" anchor="t">
            <a:spAutoFit/>
          </a:bodyPr>
          <a:lstStyle/>
          <a:p>
            <a:pPr marL="0" lvl="0" indent="0" algn="l">
              <a:lnSpc>
                <a:spcPts val="4601"/>
              </a:lnSpc>
            </a:pPr>
            <a:r>
              <a:rPr lang="en-US" sz="6000" b="1" spc="-77">
                <a:solidFill>
                  <a:srgbClr val="002150"/>
                </a:solidFill>
                <a:latin typeface="League Spartan"/>
                <a:ea typeface="League Spartan"/>
                <a:cs typeface="League Spartan"/>
                <a:sym typeface="League Spartan"/>
              </a:rPr>
              <a:t>III. TASKS COMPLETED THIS WEEK</a:t>
            </a:r>
          </a:p>
        </p:txBody>
      </p:sp>
      <p:sp>
        <p:nvSpPr>
          <p:cNvPr id="21" name="TextBox 20">
            <a:extLst>
              <a:ext uri="{FF2B5EF4-FFF2-40B4-BE49-F238E27FC236}">
                <a16:creationId xmlns:a16="http://schemas.microsoft.com/office/drawing/2014/main" id="{5A6F4633-3F8E-8AD7-0581-1DA556329B36}"/>
              </a:ext>
            </a:extLst>
          </p:cNvPr>
          <p:cNvSpPr txBox="1"/>
          <p:nvPr/>
        </p:nvSpPr>
        <p:spPr>
          <a:xfrm>
            <a:off x="1143000" y="3656549"/>
            <a:ext cx="13411198" cy="1623137"/>
          </a:xfrm>
          <a:prstGeom prst="rect">
            <a:avLst/>
          </a:prstGeom>
          <a:noFill/>
        </p:spPr>
        <p:txBody>
          <a:bodyPr wrap="square" rtlCol="0">
            <a:spAutoFit/>
          </a:bodyPr>
          <a:lstStyle/>
          <a:p>
            <a:pPr marL="342900" indent="-342900" algn="just">
              <a:lnSpc>
                <a:spcPct val="150000"/>
              </a:lnSpc>
              <a:buFont typeface="System Font Regular"/>
              <a:buChar char="⎯"/>
            </a:pPr>
            <a:r>
              <a:rPr lang="en-US" sz="2300" spc="-64">
                <a:solidFill>
                  <a:srgbClr val="002250"/>
                </a:solidFill>
                <a:latin typeface="Gotham"/>
                <a:cs typeface="Gotham"/>
              </a:rPr>
              <a:t>Read and summarized introductory materials on BCI-related research areas</a:t>
            </a:r>
          </a:p>
          <a:p>
            <a:pPr marL="342900" indent="-342900" algn="just">
              <a:lnSpc>
                <a:spcPct val="150000"/>
              </a:lnSpc>
              <a:buFont typeface="System Font Regular"/>
              <a:buChar char="⎯"/>
            </a:pPr>
            <a:r>
              <a:rPr lang="en-US" sz="2300" spc="-64">
                <a:solidFill>
                  <a:srgbClr val="002250"/>
                </a:solidFill>
                <a:latin typeface="Gotham"/>
                <a:cs typeface="Gotham"/>
              </a:rPr>
              <a:t>Compared each topic in terms of application, feasibility, and potential</a:t>
            </a:r>
          </a:p>
          <a:p>
            <a:pPr marL="342900" indent="-342900" algn="just">
              <a:lnSpc>
                <a:spcPct val="150000"/>
              </a:lnSpc>
              <a:buFont typeface="System Font Regular"/>
              <a:buChar char="⎯"/>
            </a:pPr>
            <a:r>
              <a:rPr lang="en-US" sz="2300" spc="-64">
                <a:solidFill>
                  <a:srgbClr val="002250"/>
                </a:solidFill>
                <a:latin typeface="Gotham"/>
                <a:cs typeface="Gotham"/>
              </a:rPr>
              <a:t>Shortlisted from 9 to 5 topics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D11C13-6F8C-6087-ADB3-B01D2DE42C4F}"/>
            </a:ext>
          </a:extLst>
        </p:cNvPr>
        <p:cNvGrpSpPr/>
        <p:nvPr/>
      </p:nvGrpSpPr>
      <p:grpSpPr>
        <a:xfrm>
          <a:off x="0" y="0"/>
          <a:ext cx="0" cy="0"/>
          <a:chOff x="0" y="0"/>
          <a:chExt cx="0" cy="0"/>
        </a:xfrm>
      </p:grpSpPr>
      <p:sp>
        <p:nvSpPr>
          <p:cNvPr id="22" name="TextBox 22">
            <a:extLst>
              <a:ext uri="{FF2B5EF4-FFF2-40B4-BE49-F238E27FC236}">
                <a16:creationId xmlns:a16="http://schemas.microsoft.com/office/drawing/2014/main" id="{F16ED685-213A-F79E-C6CD-88678D35BABE}"/>
              </a:ext>
            </a:extLst>
          </p:cNvPr>
          <p:cNvSpPr txBox="1"/>
          <p:nvPr/>
        </p:nvSpPr>
        <p:spPr>
          <a:xfrm>
            <a:off x="1142999" y="2267222"/>
            <a:ext cx="12192001" cy="663195"/>
          </a:xfrm>
          <a:prstGeom prst="rect">
            <a:avLst/>
          </a:prstGeom>
        </p:spPr>
        <p:txBody>
          <a:bodyPr wrap="square" lIns="0" tIns="0" rIns="0" bIns="0" rtlCol="0" anchor="t">
            <a:spAutoFit/>
          </a:bodyPr>
          <a:lstStyle/>
          <a:p>
            <a:pPr marL="0" lvl="0" indent="0" algn="l">
              <a:lnSpc>
                <a:spcPts val="4601"/>
              </a:lnSpc>
            </a:pPr>
            <a:r>
              <a:rPr lang="en-US" sz="6000" b="1" spc="-77">
                <a:solidFill>
                  <a:srgbClr val="002150"/>
                </a:solidFill>
                <a:latin typeface="League Spartan"/>
                <a:ea typeface="League Spartan"/>
                <a:cs typeface="League Spartan"/>
                <a:sym typeface="League Spartan"/>
              </a:rPr>
              <a:t>IV. DIFFICULTIES AND CHALLENGES</a:t>
            </a:r>
          </a:p>
        </p:txBody>
      </p:sp>
      <p:sp>
        <p:nvSpPr>
          <p:cNvPr id="26" name="AutoShape 26">
            <a:extLst>
              <a:ext uri="{FF2B5EF4-FFF2-40B4-BE49-F238E27FC236}">
                <a16:creationId xmlns:a16="http://schemas.microsoft.com/office/drawing/2014/main" id="{A085D27B-2067-9682-BB05-CDB86A304626}"/>
              </a:ext>
            </a:extLst>
          </p:cNvPr>
          <p:cNvSpPr/>
          <p:nvPr/>
        </p:nvSpPr>
        <p:spPr>
          <a:xfrm flipV="1">
            <a:off x="11947020" y="1194282"/>
            <a:ext cx="0" cy="2116120"/>
          </a:xfrm>
          <a:prstGeom prst="line">
            <a:avLst/>
          </a:prstGeom>
          <a:ln w="9525" cap="flat">
            <a:solidFill>
              <a:srgbClr val="F7E7D7"/>
            </a:solidFill>
            <a:prstDash val="sysDot"/>
            <a:headEnd type="none" w="sm" len="sm"/>
            <a:tailEnd type="none" w="sm" len="sm"/>
          </a:ln>
        </p:spPr>
        <p:txBody>
          <a:bodyPr/>
          <a:lstStyle/>
          <a:p>
            <a:endParaRPr lang="en-VN"/>
          </a:p>
        </p:txBody>
      </p:sp>
      <p:grpSp>
        <p:nvGrpSpPr>
          <p:cNvPr id="28" name="Group 28">
            <a:extLst>
              <a:ext uri="{FF2B5EF4-FFF2-40B4-BE49-F238E27FC236}">
                <a16:creationId xmlns:a16="http://schemas.microsoft.com/office/drawing/2014/main" id="{017B6A54-E858-F3AB-6E23-8E36FFD5BFB8}"/>
              </a:ext>
            </a:extLst>
          </p:cNvPr>
          <p:cNvGrpSpPr>
            <a:grpSpLocks/>
          </p:cNvGrpSpPr>
          <p:nvPr/>
        </p:nvGrpSpPr>
        <p:grpSpPr>
          <a:xfrm>
            <a:off x="0" y="-17764"/>
            <a:ext cx="6768300" cy="1330380"/>
            <a:chOff x="0" y="-38100"/>
            <a:chExt cx="1782597" cy="383810"/>
          </a:xfrm>
        </p:grpSpPr>
        <p:sp>
          <p:nvSpPr>
            <p:cNvPr id="29" name="Freeform 29">
              <a:extLst>
                <a:ext uri="{FF2B5EF4-FFF2-40B4-BE49-F238E27FC236}">
                  <a16:creationId xmlns:a16="http://schemas.microsoft.com/office/drawing/2014/main" id="{85CE1BE9-828A-BA7C-890A-F090DF5D43DD}"/>
                </a:ext>
              </a:extLst>
            </p:cNvPr>
            <p:cNvSpPr>
              <a:spLocks/>
            </p:cNvSpPr>
            <p:nvPr/>
          </p:nvSpPr>
          <p:spPr>
            <a:xfrm>
              <a:off x="0" y="-38100"/>
              <a:ext cx="1782597" cy="383810"/>
            </a:xfrm>
            <a:custGeom>
              <a:avLst/>
              <a:gdLst/>
              <a:ahLst/>
              <a:cxnLst/>
              <a:rect l="l" t="t" r="r" b="b"/>
              <a:pathLst>
                <a:path w="1782597" h="345710">
                  <a:moveTo>
                    <a:pt x="0" y="0"/>
                  </a:moveTo>
                  <a:lnTo>
                    <a:pt x="1782597" y="0"/>
                  </a:lnTo>
                  <a:lnTo>
                    <a:pt x="1782597" y="345710"/>
                  </a:lnTo>
                  <a:lnTo>
                    <a:pt x="0" y="345710"/>
                  </a:lnTo>
                  <a:close/>
                </a:path>
              </a:pathLst>
            </a:custGeom>
            <a:solidFill>
              <a:srgbClr val="002250"/>
            </a:solidFill>
          </p:spPr>
          <p:txBody>
            <a:bodyPr/>
            <a:lstStyle/>
            <a:p>
              <a:endParaRPr lang="en-VN"/>
            </a:p>
          </p:txBody>
        </p:sp>
        <p:sp>
          <p:nvSpPr>
            <p:cNvPr id="30" name="TextBox 30">
              <a:extLst>
                <a:ext uri="{FF2B5EF4-FFF2-40B4-BE49-F238E27FC236}">
                  <a16:creationId xmlns:a16="http://schemas.microsoft.com/office/drawing/2014/main" id="{5B3A7EB3-3DFB-707F-EECC-35265FE0BCFA}"/>
                </a:ext>
              </a:extLst>
            </p:cNvPr>
            <p:cNvSpPr txBox="1">
              <a:spLocks/>
            </p:cNvSpPr>
            <p:nvPr/>
          </p:nvSpPr>
          <p:spPr>
            <a:xfrm>
              <a:off x="0" y="-38100"/>
              <a:ext cx="1782597" cy="383810"/>
            </a:xfrm>
            <a:prstGeom prst="rect">
              <a:avLst/>
            </a:prstGeom>
          </p:spPr>
          <p:txBody>
            <a:bodyPr lIns="50800" tIns="50800" rIns="50800" bIns="50800" rtlCol="0" anchor="ctr"/>
            <a:lstStyle/>
            <a:p>
              <a:pPr algn="ctr">
                <a:lnSpc>
                  <a:spcPts val="2659"/>
                </a:lnSpc>
              </a:pPr>
              <a:endParaRPr/>
            </a:p>
          </p:txBody>
        </p:sp>
      </p:grpSp>
      <p:sp>
        <p:nvSpPr>
          <p:cNvPr id="34" name="TextBox 33">
            <a:extLst>
              <a:ext uri="{FF2B5EF4-FFF2-40B4-BE49-F238E27FC236}">
                <a16:creationId xmlns:a16="http://schemas.microsoft.com/office/drawing/2014/main" id="{A379B293-7AC2-1434-8263-54E81FB4CB1E}"/>
              </a:ext>
            </a:extLst>
          </p:cNvPr>
          <p:cNvSpPr txBox="1"/>
          <p:nvPr/>
        </p:nvSpPr>
        <p:spPr>
          <a:xfrm>
            <a:off x="1143000" y="3656549"/>
            <a:ext cx="13411198" cy="2420663"/>
          </a:xfrm>
          <a:prstGeom prst="rect">
            <a:avLst/>
          </a:prstGeom>
          <a:noFill/>
        </p:spPr>
        <p:txBody>
          <a:bodyPr wrap="square" rtlCol="0">
            <a:spAutoFit/>
          </a:bodyPr>
          <a:lstStyle/>
          <a:p>
            <a:pPr marL="342900" indent="-342900" algn="just">
              <a:lnSpc>
                <a:spcPct val="120000"/>
              </a:lnSpc>
              <a:buFont typeface="System Font Regular"/>
              <a:buChar char="⎯"/>
            </a:pPr>
            <a:r>
              <a:rPr lang="en-US" sz="2300" spc="-64">
                <a:solidFill>
                  <a:srgbClr val="002250"/>
                </a:solidFill>
                <a:latin typeface="Gotham"/>
                <a:cs typeface="Gotham"/>
              </a:rPr>
              <a:t>My current topic choices are still mostly based on personal interest. I haven’t explored them deeply enough to evaluate feasibility or novelty properly.</a:t>
            </a:r>
          </a:p>
          <a:p>
            <a:pPr marL="342900" indent="-342900" algn="just">
              <a:lnSpc>
                <a:spcPct val="120000"/>
              </a:lnSpc>
              <a:buFont typeface="System Font Regular"/>
              <a:buChar char="⎯"/>
            </a:pPr>
            <a:endParaRPr lang="en-US" sz="1000" spc="-64">
              <a:solidFill>
                <a:srgbClr val="002250"/>
              </a:solidFill>
              <a:latin typeface="Gotham"/>
              <a:cs typeface="Gotham"/>
            </a:endParaRPr>
          </a:p>
          <a:p>
            <a:pPr marL="1257300" lvl="2" indent="-342900" algn="just">
              <a:lnSpc>
                <a:spcPct val="120000"/>
              </a:lnSpc>
              <a:buFont typeface="System Font Regular"/>
              <a:buChar char="→"/>
            </a:pPr>
            <a:r>
              <a:rPr lang="en-US" sz="2600" b="1" spc="-64">
                <a:solidFill>
                  <a:srgbClr val="002250"/>
                </a:solidFill>
                <a:latin typeface="League Spartan SemiBold" pitchFamily="2" charset="77"/>
                <a:cs typeface="Gotham"/>
              </a:rPr>
              <a:t>Solution:</a:t>
            </a:r>
            <a:r>
              <a:rPr lang="en-US" sz="2300" b="1" spc="-64">
                <a:solidFill>
                  <a:srgbClr val="002250"/>
                </a:solidFill>
                <a:latin typeface="Gotham"/>
                <a:cs typeface="Gotham"/>
              </a:rPr>
              <a:t> </a:t>
            </a:r>
            <a:r>
              <a:rPr lang="en-US" sz="2300" spc="-64">
                <a:solidFill>
                  <a:srgbClr val="002250"/>
                </a:solidFill>
                <a:latin typeface="Gotham"/>
                <a:cs typeface="Gotham"/>
              </a:rPr>
              <a:t>Ask for feedback and advice from my supervisor to better understand which topics are more practical and suitable for further research.</a:t>
            </a:r>
          </a:p>
          <a:p>
            <a:pPr marL="342900" indent="-342900" algn="just">
              <a:lnSpc>
                <a:spcPct val="120000"/>
              </a:lnSpc>
              <a:buFont typeface="System Font Regular"/>
              <a:buChar char="⎯"/>
            </a:pPr>
            <a:endParaRPr lang="en-US" sz="2300" spc="-64">
              <a:solidFill>
                <a:srgbClr val="002250"/>
              </a:solidFill>
              <a:latin typeface="Gotham"/>
              <a:cs typeface="Gotham"/>
            </a:endParaRPr>
          </a:p>
        </p:txBody>
      </p:sp>
      <p:pic>
        <p:nvPicPr>
          <p:cNvPr id="41" name="Picture 40">
            <a:extLst>
              <a:ext uri="{FF2B5EF4-FFF2-40B4-BE49-F238E27FC236}">
                <a16:creationId xmlns:a16="http://schemas.microsoft.com/office/drawing/2014/main" id="{A2A00CED-C4B0-DD3A-93E5-2A311F31CD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68301" y="-38099"/>
            <a:ext cx="11519700" cy="1358990"/>
          </a:xfrm>
          <a:prstGeom prst="rect">
            <a:avLst/>
          </a:prstGeom>
        </p:spPr>
      </p:pic>
    </p:spTree>
    <p:extLst>
      <p:ext uri="{BB962C8B-B14F-4D97-AF65-F5344CB8AC3E}">
        <p14:creationId xmlns:p14="http://schemas.microsoft.com/office/powerpoint/2010/main" val="13919061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77D4E-E39A-98A2-0FAB-2A3926DE54C1}"/>
            </a:ext>
          </a:extLst>
        </p:cNvPr>
        <p:cNvGrpSpPr/>
        <p:nvPr/>
      </p:nvGrpSpPr>
      <p:grpSpPr>
        <a:xfrm>
          <a:off x="0" y="0"/>
          <a:ext cx="0" cy="0"/>
          <a:chOff x="0" y="0"/>
          <a:chExt cx="0" cy="0"/>
        </a:xfrm>
      </p:grpSpPr>
      <p:grpSp>
        <p:nvGrpSpPr>
          <p:cNvPr id="23" name="Group 23">
            <a:extLst>
              <a:ext uri="{FF2B5EF4-FFF2-40B4-BE49-F238E27FC236}">
                <a16:creationId xmlns:a16="http://schemas.microsoft.com/office/drawing/2014/main" id="{AD1CB86D-67E2-0DA2-7792-95BA3F7F34C2}"/>
              </a:ext>
            </a:extLst>
          </p:cNvPr>
          <p:cNvGrpSpPr/>
          <p:nvPr/>
        </p:nvGrpSpPr>
        <p:grpSpPr>
          <a:xfrm>
            <a:off x="0" y="-9525"/>
            <a:ext cx="6778553" cy="1312616"/>
            <a:chOff x="0" y="0"/>
            <a:chExt cx="2038402" cy="345710"/>
          </a:xfrm>
        </p:grpSpPr>
        <p:sp>
          <p:nvSpPr>
            <p:cNvPr id="24" name="Freeform 24">
              <a:extLst>
                <a:ext uri="{FF2B5EF4-FFF2-40B4-BE49-F238E27FC236}">
                  <a16:creationId xmlns:a16="http://schemas.microsoft.com/office/drawing/2014/main" id="{A9CC06E7-508C-C1E8-B071-A9C5B7AEEFFC}"/>
                </a:ext>
              </a:extLst>
            </p:cNvPr>
            <p:cNvSpPr/>
            <p:nvPr/>
          </p:nvSpPr>
          <p:spPr>
            <a:xfrm>
              <a:off x="0" y="0"/>
              <a:ext cx="2038402" cy="345710"/>
            </a:xfrm>
            <a:custGeom>
              <a:avLst/>
              <a:gdLst/>
              <a:ahLst/>
              <a:cxnLst/>
              <a:rect l="l" t="t" r="r" b="b"/>
              <a:pathLst>
                <a:path w="2038402" h="345710">
                  <a:moveTo>
                    <a:pt x="0" y="0"/>
                  </a:moveTo>
                  <a:lnTo>
                    <a:pt x="2038402" y="0"/>
                  </a:lnTo>
                  <a:lnTo>
                    <a:pt x="2038402" y="345710"/>
                  </a:lnTo>
                  <a:lnTo>
                    <a:pt x="0" y="345710"/>
                  </a:lnTo>
                  <a:close/>
                </a:path>
              </a:pathLst>
            </a:custGeom>
            <a:solidFill>
              <a:srgbClr val="002250"/>
            </a:solidFill>
          </p:spPr>
          <p:txBody>
            <a:bodyPr/>
            <a:lstStyle/>
            <a:p>
              <a:endParaRPr lang="en-VN"/>
            </a:p>
          </p:txBody>
        </p:sp>
        <p:sp>
          <p:nvSpPr>
            <p:cNvPr id="25" name="TextBox 25">
              <a:extLst>
                <a:ext uri="{FF2B5EF4-FFF2-40B4-BE49-F238E27FC236}">
                  <a16:creationId xmlns:a16="http://schemas.microsoft.com/office/drawing/2014/main" id="{E2F66B67-5744-1570-B9D1-EB883133979D}"/>
                </a:ext>
              </a:extLst>
            </p:cNvPr>
            <p:cNvSpPr txBox="1"/>
            <p:nvPr/>
          </p:nvSpPr>
          <p:spPr>
            <a:xfrm>
              <a:off x="0" y="-38100"/>
              <a:ext cx="2038402" cy="383810"/>
            </a:xfrm>
            <a:prstGeom prst="rect">
              <a:avLst/>
            </a:prstGeom>
          </p:spPr>
          <p:txBody>
            <a:bodyPr lIns="50800" tIns="50800" rIns="50800" bIns="50800" rtlCol="0" anchor="ctr"/>
            <a:lstStyle/>
            <a:p>
              <a:pPr algn="ctr">
                <a:lnSpc>
                  <a:spcPts val="2659"/>
                </a:lnSpc>
              </a:pPr>
              <a:endParaRPr/>
            </a:p>
          </p:txBody>
        </p:sp>
      </p:grpSp>
      <p:grpSp>
        <p:nvGrpSpPr>
          <p:cNvPr id="26" name="Group 26">
            <a:extLst>
              <a:ext uri="{FF2B5EF4-FFF2-40B4-BE49-F238E27FC236}">
                <a16:creationId xmlns:a16="http://schemas.microsoft.com/office/drawing/2014/main" id="{0195B806-C70C-0A69-87BB-975C3A8712BC}"/>
              </a:ext>
            </a:extLst>
          </p:cNvPr>
          <p:cNvGrpSpPr/>
          <p:nvPr/>
        </p:nvGrpSpPr>
        <p:grpSpPr>
          <a:xfrm>
            <a:off x="6768300" y="0"/>
            <a:ext cx="11519700" cy="1312616"/>
            <a:chOff x="0" y="0"/>
            <a:chExt cx="1784703" cy="203359"/>
          </a:xfrm>
        </p:grpSpPr>
        <p:sp>
          <p:nvSpPr>
            <p:cNvPr id="27" name="Freeform 27">
              <a:extLst>
                <a:ext uri="{FF2B5EF4-FFF2-40B4-BE49-F238E27FC236}">
                  <a16:creationId xmlns:a16="http://schemas.microsoft.com/office/drawing/2014/main" id="{03A0C640-DD07-B2E1-7E1F-EC48B78AC6AF}"/>
                </a:ext>
              </a:extLst>
            </p:cNvPr>
            <p:cNvSpPr/>
            <p:nvPr/>
          </p:nvSpPr>
          <p:spPr>
            <a:xfrm>
              <a:off x="0" y="0"/>
              <a:ext cx="1784703" cy="203359"/>
            </a:xfrm>
            <a:custGeom>
              <a:avLst/>
              <a:gdLst/>
              <a:ahLst/>
              <a:cxnLst/>
              <a:rect l="l" t="t" r="r" b="b"/>
              <a:pathLst>
                <a:path w="1784703" h="203359">
                  <a:moveTo>
                    <a:pt x="0" y="0"/>
                  </a:moveTo>
                  <a:lnTo>
                    <a:pt x="1784703" y="0"/>
                  </a:lnTo>
                  <a:lnTo>
                    <a:pt x="1784703" y="203359"/>
                  </a:lnTo>
                  <a:lnTo>
                    <a:pt x="0" y="203359"/>
                  </a:lnTo>
                  <a:close/>
                </a:path>
              </a:pathLst>
            </a:custGeom>
            <a:blipFill>
              <a:blip r:embed="rId3"/>
              <a:stretch>
                <a:fillRect t="-607388" b="-607388"/>
              </a:stretch>
            </a:blipFill>
          </p:spPr>
          <p:txBody>
            <a:bodyPr/>
            <a:lstStyle/>
            <a:p>
              <a:endParaRPr lang="en-VN"/>
            </a:p>
          </p:txBody>
        </p:sp>
      </p:grpSp>
      <p:sp>
        <p:nvSpPr>
          <p:cNvPr id="30" name="TextBox 22">
            <a:extLst>
              <a:ext uri="{FF2B5EF4-FFF2-40B4-BE49-F238E27FC236}">
                <a16:creationId xmlns:a16="http://schemas.microsoft.com/office/drawing/2014/main" id="{0144000D-1415-5BDF-A76C-980E5544FAD9}"/>
              </a:ext>
            </a:extLst>
          </p:cNvPr>
          <p:cNvSpPr txBox="1"/>
          <p:nvPr/>
        </p:nvSpPr>
        <p:spPr>
          <a:xfrm>
            <a:off x="1143000" y="2247900"/>
            <a:ext cx="7493153" cy="663195"/>
          </a:xfrm>
          <a:prstGeom prst="rect">
            <a:avLst/>
          </a:prstGeom>
        </p:spPr>
        <p:txBody>
          <a:bodyPr wrap="square" lIns="0" tIns="0" rIns="0" bIns="0" rtlCol="0" anchor="t">
            <a:spAutoFit/>
          </a:bodyPr>
          <a:lstStyle/>
          <a:p>
            <a:pPr marL="0" lvl="0" indent="0" algn="l">
              <a:lnSpc>
                <a:spcPts val="4601"/>
              </a:lnSpc>
            </a:pPr>
            <a:r>
              <a:rPr lang="en-US" sz="6000" b="1" spc="-77">
                <a:solidFill>
                  <a:srgbClr val="002150"/>
                </a:solidFill>
                <a:latin typeface="League Spartan"/>
                <a:ea typeface="League Spartan"/>
                <a:cs typeface="League Spartan"/>
                <a:sym typeface="League Spartan"/>
              </a:rPr>
              <a:t>V. NEXT STEPS</a:t>
            </a:r>
          </a:p>
        </p:txBody>
      </p:sp>
      <p:sp>
        <p:nvSpPr>
          <p:cNvPr id="2" name="TextBox 1">
            <a:extLst>
              <a:ext uri="{FF2B5EF4-FFF2-40B4-BE49-F238E27FC236}">
                <a16:creationId xmlns:a16="http://schemas.microsoft.com/office/drawing/2014/main" id="{5B84CD5F-6D92-FCBF-822C-D27F1E7AE120}"/>
              </a:ext>
            </a:extLst>
          </p:cNvPr>
          <p:cNvSpPr txBox="1"/>
          <p:nvPr/>
        </p:nvSpPr>
        <p:spPr>
          <a:xfrm>
            <a:off x="1143000" y="3656549"/>
            <a:ext cx="13411198" cy="2217530"/>
          </a:xfrm>
          <a:prstGeom prst="rect">
            <a:avLst/>
          </a:prstGeom>
          <a:noFill/>
        </p:spPr>
        <p:txBody>
          <a:bodyPr wrap="square" rtlCol="0">
            <a:spAutoFit/>
          </a:bodyPr>
          <a:lstStyle/>
          <a:p>
            <a:pPr marL="342900" indent="-342900" algn="just">
              <a:lnSpc>
                <a:spcPct val="120000"/>
              </a:lnSpc>
              <a:spcAft>
                <a:spcPts val="1200"/>
              </a:spcAft>
              <a:buFont typeface="System Font Regular"/>
              <a:buChar char="⎯"/>
            </a:pPr>
            <a:r>
              <a:rPr lang="en-US" sz="2300" spc="-64">
                <a:solidFill>
                  <a:srgbClr val="002250"/>
                </a:solidFill>
                <a:latin typeface="Gotham"/>
                <a:cs typeface="Gotham"/>
              </a:rPr>
              <a:t>Discuss the shortlisted topics with the supervisor to finalize the research direction.</a:t>
            </a:r>
          </a:p>
          <a:p>
            <a:pPr marL="342900" indent="-342900" algn="just">
              <a:lnSpc>
                <a:spcPct val="120000"/>
              </a:lnSpc>
              <a:spcAft>
                <a:spcPts val="1200"/>
              </a:spcAft>
              <a:buFont typeface="System Font Regular"/>
              <a:buChar char="⎯"/>
            </a:pPr>
            <a:r>
              <a:rPr lang="en-US" sz="2300" spc="-64">
                <a:solidFill>
                  <a:srgbClr val="002250"/>
                </a:solidFill>
                <a:latin typeface="Gotham"/>
                <a:cs typeface="Gotham"/>
              </a:rPr>
              <a:t>Review papers to understand existing methods, datasets, and research gaps.</a:t>
            </a:r>
          </a:p>
          <a:p>
            <a:pPr marL="342900" indent="-342900" algn="just">
              <a:lnSpc>
                <a:spcPct val="120000"/>
              </a:lnSpc>
              <a:spcAft>
                <a:spcPts val="1200"/>
              </a:spcAft>
              <a:buFont typeface="System Font Regular"/>
              <a:buChar char="⎯"/>
            </a:pPr>
            <a:r>
              <a:rPr lang="en-US" sz="2300" spc="-64">
                <a:solidFill>
                  <a:srgbClr val="002250"/>
                </a:solidFill>
                <a:latin typeface="Gotham"/>
                <a:cs typeface="Gotham"/>
              </a:rPr>
              <a:t>Identify available datasets and tools.</a:t>
            </a:r>
          </a:p>
          <a:p>
            <a:pPr marL="342900" indent="-342900" algn="just">
              <a:lnSpc>
                <a:spcPct val="120000"/>
              </a:lnSpc>
              <a:spcAft>
                <a:spcPts val="1200"/>
              </a:spcAft>
              <a:buFont typeface="System Font Regular"/>
              <a:buChar char="⎯"/>
            </a:pPr>
            <a:r>
              <a:rPr lang="en-US" sz="2300" spc="-64">
                <a:solidFill>
                  <a:srgbClr val="002250"/>
                </a:solidFill>
                <a:latin typeface="Gotham"/>
                <a:cs typeface="Gotham"/>
              </a:rPr>
              <a:t>Draft an initial research plan.</a:t>
            </a:r>
          </a:p>
        </p:txBody>
      </p:sp>
    </p:spTree>
    <p:extLst>
      <p:ext uri="{BB962C8B-B14F-4D97-AF65-F5344CB8AC3E}">
        <p14:creationId xmlns:p14="http://schemas.microsoft.com/office/powerpoint/2010/main" val="16642463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2150"/>
        </a:solidFill>
        <a:effectLst/>
      </p:bgPr>
    </p:bg>
    <p:spTree>
      <p:nvGrpSpPr>
        <p:cNvPr id="1" name="">
          <a:extLst>
            <a:ext uri="{FF2B5EF4-FFF2-40B4-BE49-F238E27FC236}">
              <a16:creationId xmlns:a16="http://schemas.microsoft.com/office/drawing/2014/main" id="{76004016-496C-AE22-2465-EADD53784ED6}"/>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C87A2D41-C0FD-8B6D-0383-C9F201443221}"/>
              </a:ext>
            </a:extLst>
          </p:cNvPr>
          <p:cNvPicPr>
            <a:picLocks noChangeAspect="1"/>
          </p:cNvPicPr>
          <p:nvPr/>
        </p:nvPicPr>
        <p:blipFill>
          <a:blip r:embed="rId3"/>
          <a:srcRect l="39520" b="4709"/>
          <a:stretch/>
        </p:blipFill>
        <p:spPr>
          <a:xfrm>
            <a:off x="-1" y="1373683"/>
            <a:ext cx="6970530" cy="8913317"/>
          </a:xfrm>
          <a:prstGeom prst="rect">
            <a:avLst/>
          </a:prstGeom>
        </p:spPr>
      </p:pic>
      <p:sp>
        <p:nvSpPr>
          <p:cNvPr id="7" name="TextBox 7">
            <a:extLst>
              <a:ext uri="{FF2B5EF4-FFF2-40B4-BE49-F238E27FC236}">
                <a16:creationId xmlns:a16="http://schemas.microsoft.com/office/drawing/2014/main" id="{1D23C974-625B-104F-F03C-016C40E6AE1D}"/>
              </a:ext>
            </a:extLst>
          </p:cNvPr>
          <p:cNvSpPr txBox="1"/>
          <p:nvPr/>
        </p:nvSpPr>
        <p:spPr>
          <a:xfrm>
            <a:off x="838200" y="8274134"/>
            <a:ext cx="5551714" cy="831766"/>
          </a:xfrm>
          <a:prstGeom prst="rect">
            <a:avLst/>
          </a:prstGeom>
        </p:spPr>
        <p:txBody>
          <a:bodyPr wrap="square" lIns="0" tIns="0" rIns="0" bIns="0" rtlCol="0" anchor="t">
            <a:spAutoFit/>
          </a:bodyPr>
          <a:lstStyle/>
          <a:p>
            <a:pPr algn="l">
              <a:lnSpc>
                <a:spcPts val="7488"/>
              </a:lnSpc>
            </a:pPr>
            <a:r>
              <a:rPr lang="en-US" sz="3000" b="1" spc="-39">
                <a:solidFill>
                  <a:srgbClr val="FAF2EC"/>
                </a:solidFill>
                <a:latin typeface="League Spartan SemiBold" pitchFamily="2" charset="77"/>
                <a:ea typeface="League Spartan"/>
                <a:cs typeface="Segoe UI" panose="020F0502020204030204" pitchFamily="34" charset="0"/>
                <a:sym typeface="League Spartan"/>
              </a:rPr>
              <a:t>Individual Honours Project</a:t>
            </a:r>
          </a:p>
        </p:txBody>
      </p:sp>
      <p:pic>
        <p:nvPicPr>
          <p:cNvPr id="10" name="Picture 9" descr="A white lion with a black background&#10;&#10;Description automatically generated">
            <a:extLst>
              <a:ext uri="{FF2B5EF4-FFF2-40B4-BE49-F238E27FC236}">
                <a16:creationId xmlns:a16="http://schemas.microsoft.com/office/drawing/2014/main" id="{B54BC935-F322-DF78-714D-F95F888D85CB}"/>
              </a:ext>
            </a:extLst>
          </p:cNvPr>
          <p:cNvPicPr>
            <a:picLocks noChangeAspect="1"/>
          </p:cNvPicPr>
          <p:nvPr/>
        </p:nvPicPr>
        <p:blipFill>
          <a:blip r:embed="rId4">
            <a:duotone>
              <a:prstClr val="black"/>
              <a:srgbClr val="FAF2EC">
                <a:tint val="45000"/>
                <a:satMod val="400000"/>
              </a:srgbClr>
            </a:duotone>
            <a:extLst>
              <a:ext uri="{28A0092B-C50C-407E-A947-70E740481C1C}">
                <a14:useLocalDpi xmlns:a14="http://schemas.microsoft.com/office/drawing/2010/main" val="0"/>
              </a:ext>
            </a:extLst>
          </a:blip>
          <a:stretch>
            <a:fillRect/>
          </a:stretch>
        </p:blipFill>
        <p:spPr>
          <a:xfrm>
            <a:off x="8970647" y="3009900"/>
            <a:ext cx="1270000" cy="1270000"/>
          </a:xfrm>
          <a:prstGeom prst="rect">
            <a:avLst/>
          </a:prstGeom>
        </p:spPr>
      </p:pic>
      <p:pic>
        <p:nvPicPr>
          <p:cNvPr id="12" name="Picture 11" descr="A white logo with a black background&#10;&#10;Description automatically generated">
            <a:extLst>
              <a:ext uri="{FF2B5EF4-FFF2-40B4-BE49-F238E27FC236}">
                <a16:creationId xmlns:a16="http://schemas.microsoft.com/office/drawing/2014/main" id="{B12364C6-3778-ECB0-4A1E-DBC15203834F}"/>
              </a:ext>
            </a:extLst>
          </p:cNvPr>
          <p:cNvPicPr>
            <a:picLocks noChangeAspect="1"/>
          </p:cNvPicPr>
          <p:nvPr/>
        </p:nvPicPr>
        <p:blipFill>
          <a:blip r:embed="rId5">
            <a:duotone>
              <a:prstClr val="black"/>
              <a:srgbClr val="FAF2EC">
                <a:tint val="45000"/>
                <a:satMod val="400000"/>
              </a:srgbClr>
            </a:duotone>
            <a:extLst>
              <a:ext uri="{28A0092B-C50C-407E-A947-70E740481C1C}">
                <a14:useLocalDpi xmlns:a14="http://schemas.microsoft.com/office/drawing/2010/main" val="0"/>
              </a:ext>
            </a:extLst>
          </a:blip>
          <a:stretch>
            <a:fillRect/>
          </a:stretch>
        </p:blipFill>
        <p:spPr>
          <a:xfrm>
            <a:off x="7957686" y="3009900"/>
            <a:ext cx="1270000" cy="1270000"/>
          </a:xfrm>
          <a:prstGeom prst="rect">
            <a:avLst/>
          </a:prstGeom>
        </p:spPr>
      </p:pic>
      <p:sp>
        <p:nvSpPr>
          <p:cNvPr id="20" name="TextBox 19">
            <a:extLst>
              <a:ext uri="{FF2B5EF4-FFF2-40B4-BE49-F238E27FC236}">
                <a16:creationId xmlns:a16="http://schemas.microsoft.com/office/drawing/2014/main" id="{B03E0354-D0F3-48F4-F63D-40EB60B225EF}"/>
              </a:ext>
            </a:extLst>
          </p:cNvPr>
          <p:cNvSpPr txBox="1"/>
          <p:nvPr/>
        </p:nvSpPr>
        <p:spPr>
          <a:xfrm>
            <a:off x="744086" y="9029700"/>
            <a:ext cx="7848600" cy="923330"/>
          </a:xfrm>
          <a:prstGeom prst="rect">
            <a:avLst/>
          </a:prstGeom>
          <a:noFill/>
        </p:spPr>
        <p:txBody>
          <a:bodyPr wrap="square">
            <a:spAutoFit/>
          </a:bodyPr>
          <a:lstStyle/>
          <a:p>
            <a:r>
              <a:rPr lang="en-US" b="1" spc="-39">
                <a:solidFill>
                  <a:srgbClr val="FAF2EC"/>
                </a:solidFill>
                <a:latin typeface="League Spartan SemiBold" pitchFamily="2" charset="77"/>
              </a:rPr>
              <a:t>Dang Khoa Cao - Supervisor: PhD. Chi Thanh Vi</a:t>
            </a:r>
          </a:p>
          <a:p>
            <a:r>
              <a:rPr lang="en-US" b="1" spc="-39">
                <a:solidFill>
                  <a:srgbClr val="FAF2EC"/>
                </a:solidFill>
                <a:latin typeface="League Spartan SemiBold" pitchFamily="2" charset="77"/>
              </a:rPr>
              <a:t>UIT ID: 23560023 | BCU ID: 25195675</a:t>
            </a:r>
          </a:p>
          <a:p>
            <a:r>
              <a:rPr lang="en-US" b="1" spc="-39">
                <a:solidFill>
                  <a:srgbClr val="FAF2EC"/>
                </a:solidFill>
                <a:latin typeface="League Spartan SemiBold" pitchFamily="2" charset="77"/>
              </a:rPr>
              <a:t>23560023@gm.uit.edu.vn | dang.cao@mail.bcu.ac.uk</a:t>
            </a:r>
          </a:p>
        </p:txBody>
      </p:sp>
      <p:sp>
        <p:nvSpPr>
          <p:cNvPr id="6" name="TextBox 7">
            <a:extLst>
              <a:ext uri="{FF2B5EF4-FFF2-40B4-BE49-F238E27FC236}">
                <a16:creationId xmlns:a16="http://schemas.microsoft.com/office/drawing/2014/main" id="{C23A1498-366D-AFFC-972A-3A3C7ED41DF3}"/>
              </a:ext>
            </a:extLst>
          </p:cNvPr>
          <p:cNvSpPr txBox="1"/>
          <p:nvPr/>
        </p:nvSpPr>
        <p:spPr>
          <a:xfrm>
            <a:off x="3589375" y="4153964"/>
            <a:ext cx="11109249" cy="1973232"/>
          </a:xfrm>
          <a:prstGeom prst="rect">
            <a:avLst/>
          </a:prstGeom>
        </p:spPr>
        <p:txBody>
          <a:bodyPr wrap="square" lIns="0" tIns="0" rIns="0" bIns="0" rtlCol="0" anchor="t">
            <a:spAutoFit/>
          </a:bodyPr>
          <a:lstStyle/>
          <a:p>
            <a:pPr algn="ctr">
              <a:lnSpc>
                <a:spcPts val="7488"/>
              </a:lnSpc>
            </a:pPr>
            <a:r>
              <a:rPr lang="en-US" sz="7000" spc="-39">
                <a:solidFill>
                  <a:srgbClr val="FAF2EC"/>
                </a:solidFill>
                <a:latin typeface="League Spartan ExtraBold" pitchFamily="2" charset="77"/>
                <a:ea typeface="League Spartan"/>
                <a:cs typeface="Segoe UI" panose="020F0502020204030204" pitchFamily="34" charset="0"/>
                <a:sym typeface="League Spartan"/>
              </a:rPr>
              <a:t>THANKS FOR</a:t>
            </a:r>
          </a:p>
          <a:p>
            <a:pPr algn="ctr">
              <a:lnSpc>
                <a:spcPts val="7488"/>
              </a:lnSpc>
            </a:pPr>
            <a:r>
              <a:rPr lang="en-US" sz="7000" spc="-39">
                <a:solidFill>
                  <a:srgbClr val="FAF2EC"/>
                </a:solidFill>
                <a:latin typeface="League Spartan ExtraBold" pitchFamily="2" charset="77"/>
                <a:ea typeface="League Spartan"/>
                <a:cs typeface="Segoe UI" panose="020F0502020204030204" pitchFamily="34" charset="0"/>
                <a:sym typeface="League Spartan"/>
              </a:rPr>
              <a:t>YOUR READING!</a:t>
            </a:r>
          </a:p>
        </p:txBody>
      </p:sp>
      <p:pic>
        <p:nvPicPr>
          <p:cNvPr id="16" name="Picture 15">
            <a:extLst>
              <a:ext uri="{FF2B5EF4-FFF2-40B4-BE49-F238E27FC236}">
                <a16:creationId xmlns:a16="http://schemas.microsoft.com/office/drawing/2014/main" id="{BE9548F2-93D6-3772-8F0F-39AB66FE8F95}"/>
              </a:ext>
            </a:extLst>
          </p:cNvPr>
          <p:cNvPicPr>
            <a:picLocks noChangeAspect="1"/>
          </p:cNvPicPr>
          <p:nvPr/>
        </p:nvPicPr>
        <p:blipFill>
          <a:blip r:embed="rId6"/>
          <a:srcRect r="32464"/>
          <a:stretch/>
        </p:blipFill>
        <p:spPr>
          <a:xfrm>
            <a:off x="11782871" y="1340663"/>
            <a:ext cx="6505129" cy="8787143"/>
          </a:xfrm>
          <a:prstGeom prst="rect">
            <a:avLst/>
          </a:prstGeom>
        </p:spPr>
      </p:pic>
    </p:spTree>
    <p:extLst>
      <p:ext uri="{BB962C8B-B14F-4D97-AF65-F5344CB8AC3E}">
        <p14:creationId xmlns:p14="http://schemas.microsoft.com/office/powerpoint/2010/main" val="2793671517"/>
      </p:ext>
    </p:extLst>
  </p:cSld>
  <p:clrMapOvr>
    <a:masterClrMapping/>
  </p:clrMapOvr>
</p:sld>
</file>

<file path=ppt/theme/theme1.xml><?xml version="1.0" encoding="utf-8"?>
<a:theme xmlns:a="http://schemas.openxmlformats.org/drawingml/2006/main" name="bcu-blu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bcu-blue" id="{3F7C257D-D202-7446-97B5-ACA504B91BF8}" vid="{FFB3AA41-2FF9-8241-B790-7DAB2CAEE02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3442</TotalTime>
  <Words>633</Words>
  <Application>Microsoft Macintosh PowerPoint</Application>
  <PresentationFormat>Custom</PresentationFormat>
  <Paragraphs>76</Paragraphs>
  <Slides>10</Slides>
  <Notes>7</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10</vt:i4>
      </vt:variant>
    </vt:vector>
  </HeadingPairs>
  <TitlesOfParts>
    <vt:vector size="20" baseType="lpstr">
      <vt:lpstr>League Spartan</vt:lpstr>
      <vt:lpstr>League Spartan SemiBold</vt:lpstr>
      <vt:lpstr>Aptos</vt:lpstr>
      <vt:lpstr>Gotham</vt:lpstr>
      <vt:lpstr>League Spartan ExtraBold</vt:lpstr>
      <vt:lpstr>Arial</vt:lpstr>
      <vt:lpstr>System Font Regular</vt:lpstr>
      <vt:lpstr>League Spartan Light</vt:lpstr>
      <vt:lpstr>Calibri</vt:lpstr>
      <vt:lpstr>bcu-blue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Entreprise Agence Marketing  Professionnel Infographie Illustration Photos Moderne Formes Bleu Rose</dc:title>
  <cp:lastModifiedBy>Khoa Cao</cp:lastModifiedBy>
  <cp:revision>7</cp:revision>
  <dcterms:created xsi:type="dcterms:W3CDTF">2006-08-16T00:00:00Z</dcterms:created>
  <dcterms:modified xsi:type="dcterms:W3CDTF">2025-10-26T08:53:28Z</dcterms:modified>
  <dc:identifier>DAG2lAxNdMM</dc:identifier>
</cp:coreProperties>
</file>